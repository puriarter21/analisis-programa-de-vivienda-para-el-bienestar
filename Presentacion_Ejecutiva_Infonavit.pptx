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9BB20B9-4A5E-D897-4601-809500FAC0DB}">
          <p14:sldIdLst>
            <p14:sldId id="256"/>
          </p14:sldIdLst>
        </p14:section>
        <p14:section name="Contexto" id="{5FACA800-99E8-ED38-5ED6-F7550DD0011F}">
          <p14:sldIdLst>
            <p14:sldId id="257"/>
            <p14:sldId id="258"/>
          </p14:sldIdLst>
        </p14:section>
        <p14:section name="Metodología" id="{58EC3A84-683F-028D-0942-6BC028C120F3}">
          <p14:sldIdLst>
            <p14:sldId id="259"/>
            <p14:sldId id="260"/>
            <p14:sldId id="261"/>
            <p14:sldId id="262"/>
          </p14:sldIdLst>
        </p14:section>
        <p14:section name="Resultados" id="{493FDAC2-B4FC-3D0B-25C7-30C124C109DF}">
          <p14:sldIdLst>
            <p14:sldId id="263"/>
            <p14:sldId id="264"/>
          </p14:sldIdLst>
        </p14:section>
        <p14:section name="Conclusiones" id="{476A06D8-37E1-246D-93DC-CD753603749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5" dt="2026-10-19T06:57:52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cesar Uriarte ruiz" userId="c4a47282029e02d2" providerId="Windows Live" clId="Web-{00000000-0000-0000-0000-000000000000}"/>
    <pc:docChg chg="addSld delSld modSld modSection">
      <pc:chgData name="Pablo cesar Uriarte ruiz" userId="c4a47282029e02d2" providerId="Windows Live" clId="Web-{00000000-0000-0000-0000-000000000000}" dt="2026-10-19T06:57:52.462" v="162"/>
      <pc:docMkLst>
        <pc:docMk/>
      </pc:docMkLst>
      <pc:sldChg chg="modSp">
        <pc:chgData name="Pablo cesar Uriarte ruiz" userId="c4a47282029e02d2" providerId="Windows Live" clId="Web-{00000000-0000-0000-0000-000000000000}" dt="2026-10-19T06:29:23.949" v="22" actId="20577"/>
        <pc:sldMkLst>
          <pc:docMk/>
          <pc:sldMk cId="0" sldId="257"/>
        </pc:sldMkLst>
        <pc:spChg chg="mod">
          <ac:chgData name="Pablo cesar Uriarte ruiz" userId="c4a47282029e02d2" providerId="Windows Live" clId="Web-{00000000-0000-0000-0000-000000000000}" dt="2026-10-19T06:29:23.949" v="22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Sp">
        <pc:chgData name="Pablo cesar Uriarte ruiz" userId="c4a47282029e02d2" providerId="Windows Live" clId="Web-{00000000-0000-0000-0000-000000000000}" dt="2026-10-19T06:28:04.071" v="16"/>
        <pc:sldMkLst>
          <pc:docMk/>
          <pc:sldMk cId="0" sldId="259"/>
        </pc:sldMkLst>
        <pc:spChg chg="mod">
          <ac:chgData name="Pablo cesar Uriarte ruiz" userId="c4a47282029e02d2" providerId="Windows Live" clId="Web-{00000000-0000-0000-0000-000000000000}" dt="2026-10-19T06:27:39.649" v="15" actId="20577"/>
          <ac:spMkLst>
            <pc:docMk/>
            <pc:sldMk cId="0" sldId="259"/>
            <ac:spMk id="4" creationId="{00000000-0000-0000-0000-000000000000}"/>
          </ac:spMkLst>
        </pc:spChg>
        <pc:spChg chg="del">
          <ac:chgData name="Pablo cesar Uriarte ruiz" userId="c4a47282029e02d2" providerId="Windows Live" clId="Web-{00000000-0000-0000-0000-000000000000}" dt="2026-10-19T06:28:04.071" v="16"/>
          <ac:spMkLst>
            <pc:docMk/>
            <pc:sldMk cId="0" sldId="259"/>
            <ac:spMk id="15" creationId="{00000000-0000-0000-0000-000000000000}"/>
          </ac:spMkLst>
        </pc:spChg>
      </pc:sldChg>
      <pc:sldChg chg="modSp">
        <pc:chgData name="Pablo cesar Uriarte ruiz" userId="c4a47282029e02d2" providerId="Windows Live" clId="Web-{00000000-0000-0000-0000-000000000000}" dt="2026-10-19T06:28:46.087" v="18" actId="20577"/>
        <pc:sldMkLst>
          <pc:docMk/>
          <pc:sldMk cId="0" sldId="260"/>
        </pc:sldMkLst>
        <pc:spChg chg="mod">
          <ac:chgData name="Pablo cesar Uriarte ruiz" userId="c4a47282029e02d2" providerId="Windows Live" clId="Web-{00000000-0000-0000-0000-000000000000}" dt="2026-10-19T06:28:46.087" v="18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">
        <pc:chgData name="Pablo cesar Uriarte ruiz" userId="c4a47282029e02d2" providerId="Windows Live" clId="Web-{00000000-0000-0000-0000-000000000000}" dt="2026-10-19T06:38:31.167" v="32" actId="20577"/>
        <pc:sldMkLst>
          <pc:docMk/>
          <pc:sldMk cId="0" sldId="263"/>
        </pc:sldMkLst>
        <pc:spChg chg="mod">
          <ac:chgData name="Pablo cesar Uriarte ruiz" userId="c4a47282029e02d2" providerId="Windows Live" clId="Web-{00000000-0000-0000-0000-000000000000}" dt="2026-10-19T06:38:31.167" v="32" actId="20577"/>
          <ac:spMkLst>
            <pc:docMk/>
            <pc:sldMk cId="0" sldId="263"/>
            <ac:spMk id="17" creationId="{00000000-0000-0000-0000-000000000000}"/>
          </ac:spMkLst>
        </pc:spChg>
      </pc:sldChg>
      <pc:sldChg chg="addSp delSp modSp">
        <pc:chgData name="Pablo cesar Uriarte ruiz" userId="c4a47282029e02d2" providerId="Windows Live" clId="Web-{00000000-0000-0000-0000-000000000000}" dt="2026-10-19T06:57:02.681" v="142"/>
        <pc:sldMkLst>
          <pc:docMk/>
          <pc:sldMk cId="0" sldId="264"/>
        </pc:sldMkLst>
        <pc:spChg chg="add del mod">
          <ac:chgData name="Pablo cesar Uriarte ruiz" userId="c4a47282029e02d2" providerId="Windows Live" clId="Web-{00000000-0000-0000-0000-000000000000}" dt="2026-10-19T06:57:02.681" v="142"/>
          <ac:spMkLst>
            <pc:docMk/>
            <pc:sldMk cId="0" sldId="264"/>
            <ac:spMk id="4" creationId="{00000000-0000-0000-0000-000000000000}"/>
          </ac:spMkLst>
        </pc:spChg>
        <pc:spChg chg="del">
          <ac:chgData name="Pablo cesar Uriarte ruiz" userId="c4a47282029e02d2" providerId="Windows Live" clId="Web-{00000000-0000-0000-0000-000000000000}" dt="2026-10-19T06:43:16.682" v="35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Pablo cesar Uriarte ruiz" userId="c4a47282029e02d2" providerId="Windows Live" clId="Web-{00000000-0000-0000-0000-000000000000}" dt="2026-10-19T06:53:10.635" v="98"/>
          <ac:spMkLst>
            <pc:docMk/>
            <pc:sldMk cId="0" sldId="264"/>
            <ac:spMk id="6" creationId="{00000000-0000-0000-0000-000000000000}"/>
          </ac:spMkLst>
        </pc:spChg>
        <pc:spChg chg="del">
          <ac:chgData name="Pablo cesar Uriarte ruiz" userId="c4a47282029e02d2" providerId="Windows Live" clId="Web-{00000000-0000-0000-0000-000000000000}" dt="2026-10-19T06:48:46.792" v="50"/>
          <ac:spMkLst>
            <pc:docMk/>
            <pc:sldMk cId="0" sldId="264"/>
            <ac:spMk id="7" creationId="{00000000-0000-0000-0000-000000000000}"/>
          </ac:spMkLst>
        </pc:spChg>
        <pc:spChg chg="mod">
          <ac:chgData name="Pablo cesar Uriarte ruiz" userId="c4a47282029e02d2" providerId="Windows Live" clId="Web-{00000000-0000-0000-0000-000000000000}" dt="2026-10-19T06:55:25.494" v="131" actId="14100"/>
          <ac:spMkLst>
            <pc:docMk/>
            <pc:sldMk cId="0" sldId="264"/>
            <ac:spMk id="8" creationId="{00000000-0000-0000-0000-000000000000}"/>
          </ac:spMkLst>
        </pc:spChg>
        <pc:spChg chg="add del mod">
          <ac:chgData name="Pablo cesar Uriarte ruiz" userId="c4a47282029e02d2" providerId="Windows Live" clId="Web-{00000000-0000-0000-0000-000000000000}" dt="2026-10-19T06:50:33.167" v="59"/>
          <ac:spMkLst>
            <pc:docMk/>
            <pc:sldMk cId="0" sldId="264"/>
            <ac:spMk id="12" creationId="{49049E5C-4DE9-8E9E-6845-89964C163989}"/>
          </ac:spMkLst>
        </pc:spChg>
        <pc:spChg chg="add mod">
          <ac:chgData name="Pablo cesar Uriarte ruiz" userId="c4a47282029e02d2" providerId="Windows Live" clId="Web-{00000000-0000-0000-0000-000000000000}" dt="2026-10-19T06:55:25.510" v="132" actId="14100"/>
          <ac:spMkLst>
            <pc:docMk/>
            <pc:sldMk cId="0" sldId="264"/>
            <ac:spMk id="13" creationId="{757DC4A9-310F-8796-E374-9A8788408D52}"/>
          </ac:spMkLst>
        </pc:spChg>
        <pc:spChg chg="add mod">
          <ac:chgData name="Pablo cesar Uriarte ruiz" userId="c4a47282029e02d2" providerId="Windows Live" clId="Web-{00000000-0000-0000-0000-000000000000}" dt="2026-10-19T06:55:25.525" v="133" actId="14100"/>
          <ac:spMkLst>
            <pc:docMk/>
            <pc:sldMk cId="0" sldId="264"/>
            <ac:spMk id="14" creationId="{772B1AE1-213D-5640-E92B-A263A8D519C5}"/>
          </ac:spMkLst>
        </pc:spChg>
        <pc:spChg chg="add del mod">
          <ac:chgData name="Pablo cesar Uriarte ruiz" userId="c4a47282029e02d2" providerId="Windows Live" clId="Web-{00000000-0000-0000-0000-000000000000}" dt="2026-10-19T06:53:05.760" v="97"/>
          <ac:spMkLst>
            <pc:docMk/>
            <pc:sldMk cId="0" sldId="264"/>
            <ac:spMk id="15" creationId="{E4BD67D9-1021-05E6-275E-484BBB4D173C}"/>
          </ac:spMkLst>
        </pc:spChg>
        <pc:picChg chg="add del mod">
          <ac:chgData name="Pablo cesar Uriarte ruiz" userId="c4a47282029e02d2" providerId="Windows Live" clId="Web-{00000000-0000-0000-0000-000000000000}" dt="2026-10-19T06:45:09.322" v="41"/>
          <ac:picMkLst>
            <pc:docMk/>
            <pc:sldMk cId="0" sldId="264"/>
            <ac:picMk id="9" creationId="{69CF8757-2B72-E07E-4534-2F1F542114AC}"/>
          </ac:picMkLst>
        </pc:picChg>
        <pc:picChg chg="add del mod">
          <ac:chgData name="Pablo cesar Uriarte ruiz" userId="c4a47282029e02d2" providerId="Windows Live" clId="Web-{00000000-0000-0000-0000-000000000000}" dt="2026-10-19T06:45:50.400" v="44"/>
          <ac:picMkLst>
            <pc:docMk/>
            <pc:sldMk cId="0" sldId="264"/>
            <ac:picMk id="10" creationId="{B998BF22-563F-2B99-7ACA-9A26ECB2882C}"/>
          </ac:picMkLst>
        </pc:picChg>
        <pc:picChg chg="add mod">
          <ac:chgData name="Pablo cesar Uriarte ruiz" userId="c4a47282029e02d2" providerId="Windows Live" clId="Web-{00000000-0000-0000-0000-000000000000}" dt="2026-10-19T06:56:04.088" v="139" actId="14100"/>
          <ac:picMkLst>
            <pc:docMk/>
            <pc:sldMk cId="0" sldId="264"/>
            <ac:picMk id="11" creationId="{417B5E3D-1A89-79DB-AADD-DD9BAEC56E2D}"/>
          </ac:picMkLst>
        </pc:picChg>
      </pc:sldChg>
      <pc:sldChg chg="modSp add del">
        <pc:chgData name="Pablo cesar Uriarte ruiz" userId="c4a47282029e02d2" providerId="Windows Live" clId="Web-{00000000-0000-0000-0000-000000000000}" dt="2026-10-19T06:57:52.462" v="162"/>
        <pc:sldMkLst>
          <pc:docMk/>
          <pc:sldMk cId="0" sldId="265"/>
        </pc:sldMkLst>
        <pc:spChg chg="mod">
          <ac:chgData name="Pablo cesar Uriarte ruiz" userId="c4a47282029e02d2" providerId="Windows Live" clId="Web-{00000000-0000-0000-0000-000000000000}" dt="2026-10-19T06:57:33.666" v="154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Pablo cesar Uriarte ruiz" userId="c4a47282029e02d2" providerId="Windows Live" clId="Web-{00000000-0000-0000-0000-000000000000}" dt="2026-10-19T06:57:39.619" v="156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Pablo cesar Uriarte ruiz" userId="c4a47282029e02d2" providerId="Windows Live" clId="Web-{00000000-0000-0000-0000-000000000000}" dt="2026-10-19T06:57:52.384" v="16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Pablo cesar Uriarte ruiz" userId="c4a47282029e02d2" providerId="Windows Live" clId="Web-{00000000-0000-0000-0000-000000000000}" dt="2026-10-19T06:57:52.384" v="161"/>
          <ac:spMkLst>
            <pc:docMk/>
            <pc:sldMk cId="0" sldId="265"/>
            <ac:spMk id="23" creationId="{00000000-0000-0000-0000-000000000000}"/>
          </ac:spMkLst>
        </pc:spChg>
        <pc:spChg chg="mod">
          <ac:chgData name="Pablo cesar Uriarte ruiz" userId="c4a47282029e02d2" providerId="Windows Live" clId="Web-{00000000-0000-0000-0000-000000000000}" dt="2026-10-19T06:57:52.462" v="162"/>
          <ac:spMkLst>
            <pc:docMk/>
            <pc:sldMk cId="0" sldId="265"/>
            <ac:spMk id="25" creationId="{00000000-0000-0000-0000-000000000000}"/>
          </ac:spMkLst>
        </pc:spChg>
      </pc:sldChg>
      <pc:sldChg chg="add del">
        <pc:chgData name="Pablo cesar Uriarte ruiz" userId="c4a47282029e02d2" providerId="Windows Live" clId="Web-{00000000-0000-0000-0000-000000000000}" dt="2026-10-19T06:55:42.900" v="13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3B85D-B8B4-44E3-B747-AA9256C05F73}" type="datetimeFigureOut"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0B521-ED00-499E-9B25-D86F9F0D85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2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un ejercicio de identificación y dimensionamiento con microdatos de la ENVI 2020. El mensaje central: 26 de cada 100 hogares del país son población potencial del Programa de Vivienda para el Bienestar y 23 de ellos cumplen además el criterio de ingreso de hasta 5 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rezago habitacional alcanza a una de cada cuatro viviendas, casi un tercio no es propiedad de sus habitantes y 7.6 millones de hogares declaran necesitar vivienda. Pero la necesidad no es una sola: falta de vivienda, deterioro, hacinamiento o tenencia insegura piden respuestas distintas. De ahí la pregunta: qué características usar para identificar y dimensionar a quien el programa debe atender.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información estadística proviene de la ENVI 2020 del INEGI: cuatro tablas de microdatos que, expandidas, cuadran exactamente con los tabulados oficiales. Los criterios provienen de la normativa de la CONAVI, del manual del esquema Vivienda para el Bienestar y de las reglas del INFONAVIT. De la encuesta se usan seis bloques de variables: condiciones físicas, situación y demanda de vivienda, tenencia, ingreso y crédito, características de las personas y ubicación.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metodología no parte de la encuesta sino de la norma. Se toma el enfoque que usa la CONAVI para cuantificar sus poblaciones: estimación por reglas con factor de expansión. Los criterios vienen de las Reglas de Operación 2026, del manual del esquema, de la nota metodológica S177 y de las reglas del INFONAVIT, y se integran en una sola estimación. El trabajo se organiza en dos fases.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primera fase se identifican las modalidades del programa y se decide cuáles puede observar la encuesta: ocho son estimables y dos no, porque dependen de dictámenes de riesgo. En la segunda, cada requisito se convierte en una etiqueta binaria trazable a una pregunta. Las tablas se unen a nivel hogar, se mensualiza el ingreso y se imputa el faltante. Antes de estimar, se verifica que los totales expandidos cuadren con INEGI.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etiquetas se combinan en una regla por tipo de atención: rezago habitacional como requisito común, más la necesidad, la elegibilidad y la ausencia de exclusión. Esto define la población potencial; si además el ingreso es de hasta 5 UMA, el hogar es población objetivo. Los tipos se traslapan, por eso el total es su unión. La precisión se evalúa con el coeficiente de variación del diseño muestral y se prueban escenarios de sensibilidad.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las etiquetas de la metodología se construyen seis dimensiones de evaluación. Cada una cumple una función distinta: habitabilidad y necesidad de vivienda acreditan la carencia; tenencia define la posesión y la exclusión; capacidad económica delimita la población objetivo; los grupos prioritarios ordenan la atención, y el territorio desagrega. Su combinación indica a qué tipo de atención del programa podría acceder cada hogar. Reubicación y reconstrucción no se estiman porque la encuesta no observa el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rezago observable alcanza a 24.1% de las viviendas, en línea con el 25.2% de CONAVI, y 21.1% de los hogares declara necesitar vivienda. Al aplicar las reglas, 9.47 millones de hogares son población potencial y 8.22 millones población objetivo. Por tipo, cada barra muestra los hogares potenciales; la parte oscura es la población objetivo. Mejoramiento y ampliación concentran el mayor volumen, por encima de la vivienda nueva; regularización alcanza a casi 8% de los hogares, y adquisición con crédito y unidades habitacionales son marginales.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muestra la tasa de población objetivo por entidad. La necesidad no se distribuye de forma homogénea: en Chiapas dos de cada tres hogares son población objetivo, mientras que en Aguascalientes son cinco de cada 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magnitud es amplia: uno de cada cuatro hogares tiene una carencia atendible. Lo más relevante desde el punto de vista social es la coincidencia de carencias: casi nueve de cada diez hogares potenciales ganan hasta 5 UMA, por lo que no pueden resolver su vivienda en el mercado. La necesidad dominante es mejorar y ampliar donde ya se vive; la tenencia irregular y la falta de crédito son las principales barreras, y las brechas territoriales son profundas. Las recomendaciones apuntan a focalizar por carencia y territorio, encadenar regularización y mejoramiento, y fortalecer la medición.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deben leerse con estas reservas. La más relevante es el ingreso: la ENVI solo capta ingreso laboral, por lo que el objetivo tiende a sobrestimarse, y la imputación lo reduce en unos 170 mil hogares. Los tipos con muestras pequeñas, adquisición con crédito y unidades habitacionales, requieren reportarse con su coeficiente de variación.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5156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Identificación de la población susceptible · Programa de Vivienda para el Bienestar · ENVI 2020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Identificación de la población susceptible · Programa de Vivienda para el Bienestar · ENVI 2020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5156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Identificación y dimensionamiento de la población susceptible de ser atendida por el Programa de Vivienda para el Bienestar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ENVI 2020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Pablo Cesar Uriarte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68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Ejercicio técnico · Vacante Especialista Técnico A · Dirección de Planeación, INFONAVIT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79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Octubre de 2026</a:t>
            </a:r>
            <a:endParaRPr lang="en-US" sz="1200" dirty="0"/>
          </a:p>
        </p:txBody>
      </p:sp>
      <p:sp>
        <p:nvSpPr>
          <p:cNvPr id="7" name="waffle0"/>
          <p:cNvSpPr/>
          <p:nvPr/>
        </p:nvSpPr>
        <p:spPr>
          <a:xfrm>
            <a:off x="8183880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waffle1"/>
          <p:cNvSpPr/>
          <p:nvPr/>
        </p:nvSpPr>
        <p:spPr>
          <a:xfrm>
            <a:off x="8522208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waffle2"/>
          <p:cNvSpPr/>
          <p:nvPr/>
        </p:nvSpPr>
        <p:spPr>
          <a:xfrm>
            <a:off x="8860536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waffle3"/>
          <p:cNvSpPr/>
          <p:nvPr/>
        </p:nvSpPr>
        <p:spPr>
          <a:xfrm>
            <a:off x="9198864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waffle4"/>
          <p:cNvSpPr/>
          <p:nvPr/>
        </p:nvSpPr>
        <p:spPr>
          <a:xfrm>
            <a:off x="9537192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waffle5"/>
          <p:cNvSpPr/>
          <p:nvPr/>
        </p:nvSpPr>
        <p:spPr>
          <a:xfrm>
            <a:off x="9875520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waffle6"/>
          <p:cNvSpPr/>
          <p:nvPr/>
        </p:nvSpPr>
        <p:spPr>
          <a:xfrm>
            <a:off x="10213848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waffle7"/>
          <p:cNvSpPr/>
          <p:nvPr/>
        </p:nvSpPr>
        <p:spPr>
          <a:xfrm>
            <a:off x="10552176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waffle8"/>
          <p:cNvSpPr/>
          <p:nvPr/>
        </p:nvSpPr>
        <p:spPr>
          <a:xfrm>
            <a:off x="10890504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waffle9"/>
          <p:cNvSpPr/>
          <p:nvPr/>
        </p:nvSpPr>
        <p:spPr>
          <a:xfrm>
            <a:off x="11228832" y="109728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waffle10"/>
          <p:cNvSpPr/>
          <p:nvPr/>
        </p:nvSpPr>
        <p:spPr>
          <a:xfrm>
            <a:off x="8183880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waffle11"/>
          <p:cNvSpPr/>
          <p:nvPr/>
        </p:nvSpPr>
        <p:spPr>
          <a:xfrm>
            <a:off x="8522208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waffle12"/>
          <p:cNvSpPr/>
          <p:nvPr/>
        </p:nvSpPr>
        <p:spPr>
          <a:xfrm>
            <a:off x="8860536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waffle13"/>
          <p:cNvSpPr/>
          <p:nvPr/>
        </p:nvSpPr>
        <p:spPr>
          <a:xfrm>
            <a:off x="9198864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waffle14"/>
          <p:cNvSpPr/>
          <p:nvPr/>
        </p:nvSpPr>
        <p:spPr>
          <a:xfrm>
            <a:off x="9537192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waffle15"/>
          <p:cNvSpPr/>
          <p:nvPr/>
        </p:nvSpPr>
        <p:spPr>
          <a:xfrm>
            <a:off x="9875520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waffle16"/>
          <p:cNvSpPr/>
          <p:nvPr/>
        </p:nvSpPr>
        <p:spPr>
          <a:xfrm>
            <a:off x="10213848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waffle17"/>
          <p:cNvSpPr/>
          <p:nvPr/>
        </p:nvSpPr>
        <p:spPr>
          <a:xfrm>
            <a:off x="10552176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waffle18"/>
          <p:cNvSpPr/>
          <p:nvPr/>
        </p:nvSpPr>
        <p:spPr>
          <a:xfrm>
            <a:off x="10890504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waffle19"/>
          <p:cNvSpPr/>
          <p:nvPr/>
        </p:nvSpPr>
        <p:spPr>
          <a:xfrm>
            <a:off x="11228832" y="1435608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waffle20"/>
          <p:cNvSpPr/>
          <p:nvPr/>
        </p:nvSpPr>
        <p:spPr>
          <a:xfrm>
            <a:off x="8183880" y="1773936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waffle21"/>
          <p:cNvSpPr/>
          <p:nvPr/>
        </p:nvSpPr>
        <p:spPr>
          <a:xfrm>
            <a:off x="8522208" y="1773936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waffle22"/>
          <p:cNvSpPr/>
          <p:nvPr/>
        </p:nvSpPr>
        <p:spPr>
          <a:xfrm>
            <a:off x="8860536" y="1773936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0" name="waffle23"/>
          <p:cNvSpPr/>
          <p:nvPr/>
        </p:nvSpPr>
        <p:spPr>
          <a:xfrm>
            <a:off x="9198864" y="1773936"/>
            <a:ext cx="274320" cy="274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waffle24"/>
          <p:cNvSpPr/>
          <p:nvPr/>
        </p:nvSpPr>
        <p:spPr>
          <a:xfrm>
            <a:off x="9537192" y="1773936"/>
            <a:ext cx="274320" cy="274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waffle25"/>
          <p:cNvSpPr/>
          <p:nvPr/>
        </p:nvSpPr>
        <p:spPr>
          <a:xfrm>
            <a:off x="9875520" y="1773936"/>
            <a:ext cx="274320" cy="274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waffle26"/>
          <p:cNvSpPr/>
          <p:nvPr/>
        </p:nvSpPr>
        <p:spPr>
          <a:xfrm>
            <a:off x="10213848" y="177393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4" name="waffle27"/>
          <p:cNvSpPr/>
          <p:nvPr/>
        </p:nvSpPr>
        <p:spPr>
          <a:xfrm>
            <a:off x="10552176" y="177393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5" name="waffle28"/>
          <p:cNvSpPr/>
          <p:nvPr/>
        </p:nvSpPr>
        <p:spPr>
          <a:xfrm>
            <a:off x="10890504" y="177393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6" name="waffle29"/>
          <p:cNvSpPr/>
          <p:nvPr/>
        </p:nvSpPr>
        <p:spPr>
          <a:xfrm>
            <a:off x="11228832" y="177393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7" name="waffle30"/>
          <p:cNvSpPr/>
          <p:nvPr/>
        </p:nvSpPr>
        <p:spPr>
          <a:xfrm>
            <a:off x="8183880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8" name="waffle31"/>
          <p:cNvSpPr/>
          <p:nvPr/>
        </p:nvSpPr>
        <p:spPr>
          <a:xfrm>
            <a:off x="8522208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9" name="waffle32"/>
          <p:cNvSpPr/>
          <p:nvPr/>
        </p:nvSpPr>
        <p:spPr>
          <a:xfrm>
            <a:off x="8860536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0" name="waffle33"/>
          <p:cNvSpPr/>
          <p:nvPr/>
        </p:nvSpPr>
        <p:spPr>
          <a:xfrm>
            <a:off x="9198864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1" name="waffle34"/>
          <p:cNvSpPr/>
          <p:nvPr/>
        </p:nvSpPr>
        <p:spPr>
          <a:xfrm>
            <a:off x="9537192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2" name="waffle35"/>
          <p:cNvSpPr/>
          <p:nvPr/>
        </p:nvSpPr>
        <p:spPr>
          <a:xfrm>
            <a:off x="9875520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3" name="waffle36"/>
          <p:cNvSpPr/>
          <p:nvPr/>
        </p:nvSpPr>
        <p:spPr>
          <a:xfrm>
            <a:off x="10213848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4" name="waffle37"/>
          <p:cNvSpPr/>
          <p:nvPr/>
        </p:nvSpPr>
        <p:spPr>
          <a:xfrm>
            <a:off x="10552176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5" name="waffle38"/>
          <p:cNvSpPr/>
          <p:nvPr/>
        </p:nvSpPr>
        <p:spPr>
          <a:xfrm>
            <a:off x="10890504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6" name="waffle39"/>
          <p:cNvSpPr/>
          <p:nvPr/>
        </p:nvSpPr>
        <p:spPr>
          <a:xfrm>
            <a:off x="11228832" y="211226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7" name="waffle40"/>
          <p:cNvSpPr/>
          <p:nvPr/>
        </p:nvSpPr>
        <p:spPr>
          <a:xfrm>
            <a:off x="8183880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8" name="waffle41"/>
          <p:cNvSpPr/>
          <p:nvPr/>
        </p:nvSpPr>
        <p:spPr>
          <a:xfrm>
            <a:off x="8522208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9" name="waffle42"/>
          <p:cNvSpPr/>
          <p:nvPr/>
        </p:nvSpPr>
        <p:spPr>
          <a:xfrm>
            <a:off x="8860536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0" name="waffle43"/>
          <p:cNvSpPr/>
          <p:nvPr/>
        </p:nvSpPr>
        <p:spPr>
          <a:xfrm>
            <a:off x="9198864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1" name="waffle44"/>
          <p:cNvSpPr/>
          <p:nvPr/>
        </p:nvSpPr>
        <p:spPr>
          <a:xfrm>
            <a:off x="9537192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2" name="waffle45"/>
          <p:cNvSpPr/>
          <p:nvPr/>
        </p:nvSpPr>
        <p:spPr>
          <a:xfrm>
            <a:off x="9875520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3" name="waffle46"/>
          <p:cNvSpPr/>
          <p:nvPr/>
        </p:nvSpPr>
        <p:spPr>
          <a:xfrm>
            <a:off x="10213848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4" name="waffle47"/>
          <p:cNvSpPr/>
          <p:nvPr/>
        </p:nvSpPr>
        <p:spPr>
          <a:xfrm>
            <a:off x="10552176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5" name="waffle48"/>
          <p:cNvSpPr/>
          <p:nvPr/>
        </p:nvSpPr>
        <p:spPr>
          <a:xfrm>
            <a:off x="10890504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6" name="waffle49"/>
          <p:cNvSpPr/>
          <p:nvPr/>
        </p:nvSpPr>
        <p:spPr>
          <a:xfrm>
            <a:off x="11228832" y="245059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7" name="waffle50"/>
          <p:cNvSpPr/>
          <p:nvPr/>
        </p:nvSpPr>
        <p:spPr>
          <a:xfrm>
            <a:off x="8183880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8" name="waffle51"/>
          <p:cNvSpPr/>
          <p:nvPr/>
        </p:nvSpPr>
        <p:spPr>
          <a:xfrm>
            <a:off x="8522208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59" name="waffle52"/>
          <p:cNvSpPr/>
          <p:nvPr/>
        </p:nvSpPr>
        <p:spPr>
          <a:xfrm>
            <a:off x="8860536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0" name="waffle53"/>
          <p:cNvSpPr/>
          <p:nvPr/>
        </p:nvSpPr>
        <p:spPr>
          <a:xfrm>
            <a:off x="9198864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1" name="waffle54"/>
          <p:cNvSpPr/>
          <p:nvPr/>
        </p:nvSpPr>
        <p:spPr>
          <a:xfrm>
            <a:off x="9537192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2" name="waffle55"/>
          <p:cNvSpPr/>
          <p:nvPr/>
        </p:nvSpPr>
        <p:spPr>
          <a:xfrm>
            <a:off x="9875520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3" name="waffle56"/>
          <p:cNvSpPr/>
          <p:nvPr/>
        </p:nvSpPr>
        <p:spPr>
          <a:xfrm>
            <a:off x="10213848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4" name="waffle57"/>
          <p:cNvSpPr/>
          <p:nvPr/>
        </p:nvSpPr>
        <p:spPr>
          <a:xfrm>
            <a:off x="10552176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5" name="waffle58"/>
          <p:cNvSpPr/>
          <p:nvPr/>
        </p:nvSpPr>
        <p:spPr>
          <a:xfrm>
            <a:off x="10890504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6" name="waffle59"/>
          <p:cNvSpPr/>
          <p:nvPr/>
        </p:nvSpPr>
        <p:spPr>
          <a:xfrm>
            <a:off x="11228832" y="2788920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7" name="waffle60"/>
          <p:cNvSpPr/>
          <p:nvPr/>
        </p:nvSpPr>
        <p:spPr>
          <a:xfrm>
            <a:off x="8183880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8" name="waffle61"/>
          <p:cNvSpPr/>
          <p:nvPr/>
        </p:nvSpPr>
        <p:spPr>
          <a:xfrm>
            <a:off x="8522208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9" name="waffle62"/>
          <p:cNvSpPr/>
          <p:nvPr/>
        </p:nvSpPr>
        <p:spPr>
          <a:xfrm>
            <a:off x="8860536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0" name="waffle63"/>
          <p:cNvSpPr/>
          <p:nvPr/>
        </p:nvSpPr>
        <p:spPr>
          <a:xfrm>
            <a:off x="9198864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1" name="waffle64"/>
          <p:cNvSpPr/>
          <p:nvPr/>
        </p:nvSpPr>
        <p:spPr>
          <a:xfrm>
            <a:off x="9537192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2" name="waffle65"/>
          <p:cNvSpPr/>
          <p:nvPr/>
        </p:nvSpPr>
        <p:spPr>
          <a:xfrm>
            <a:off x="9875520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3" name="waffle66"/>
          <p:cNvSpPr/>
          <p:nvPr/>
        </p:nvSpPr>
        <p:spPr>
          <a:xfrm>
            <a:off x="10213848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4" name="waffle67"/>
          <p:cNvSpPr/>
          <p:nvPr/>
        </p:nvSpPr>
        <p:spPr>
          <a:xfrm>
            <a:off x="10552176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5" name="waffle68"/>
          <p:cNvSpPr/>
          <p:nvPr/>
        </p:nvSpPr>
        <p:spPr>
          <a:xfrm>
            <a:off x="10890504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6" name="waffle69"/>
          <p:cNvSpPr/>
          <p:nvPr/>
        </p:nvSpPr>
        <p:spPr>
          <a:xfrm>
            <a:off x="11228832" y="3127248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7" name="waffle70"/>
          <p:cNvSpPr/>
          <p:nvPr/>
        </p:nvSpPr>
        <p:spPr>
          <a:xfrm>
            <a:off x="8183880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8" name="waffle71"/>
          <p:cNvSpPr/>
          <p:nvPr/>
        </p:nvSpPr>
        <p:spPr>
          <a:xfrm>
            <a:off x="8522208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9" name="waffle72"/>
          <p:cNvSpPr/>
          <p:nvPr/>
        </p:nvSpPr>
        <p:spPr>
          <a:xfrm>
            <a:off x="8860536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0" name="waffle73"/>
          <p:cNvSpPr/>
          <p:nvPr/>
        </p:nvSpPr>
        <p:spPr>
          <a:xfrm>
            <a:off x="9198864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1" name="waffle74"/>
          <p:cNvSpPr/>
          <p:nvPr/>
        </p:nvSpPr>
        <p:spPr>
          <a:xfrm>
            <a:off x="9537192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2" name="waffle75"/>
          <p:cNvSpPr/>
          <p:nvPr/>
        </p:nvSpPr>
        <p:spPr>
          <a:xfrm>
            <a:off x="9875520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3" name="waffle76"/>
          <p:cNvSpPr/>
          <p:nvPr/>
        </p:nvSpPr>
        <p:spPr>
          <a:xfrm>
            <a:off x="10213848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4" name="waffle77"/>
          <p:cNvSpPr/>
          <p:nvPr/>
        </p:nvSpPr>
        <p:spPr>
          <a:xfrm>
            <a:off x="10552176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5" name="waffle78"/>
          <p:cNvSpPr/>
          <p:nvPr/>
        </p:nvSpPr>
        <p:spPr>
          <a:xfrm>
            <a:off x="10890504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6" name="waffle79"/>
          <p:cNvSpPr/>
          <p:nvPr/>
        </p:nvSpPr>
        <p:spPr>
          <a:xfrm>
            <a:off x="11228832" y="3465576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7" name="waffle80"/>
          <p:cNvSpPr/>
          <p:nvPr/>
        </p:nvSpPr>
        <p:spPr>
          <a:xfrm>
            <a:off x="8183880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8" name="waffle81"/>
          <p:cNvSpPr/>
          <p:nvPr/>
        </p:nvSpPr>
        <p:spPr>
          <a:xfrm>
            <a:off x="8522208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89" name="waffle82"/>
          <p:cNvSpPr/>
          <p:nvPr/>
        </p:nvSpPr>
        <p:spPr>
          <a:xfrm>
            <a:off x="8860536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0" name="waffle83"/>
          <p:cNvSpPr/>
          <p:nvPr/>
        </p:nvSpPr>
        <p:spPr>
          <a:xfrm>
            <a:off x="9198864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1" name="waffle84"/>
          <p:cNvSpPr/>
          <p:nvPr/>
        </p:nvSpPr>
        <p:spPr>
          <a:xfrm>
            <a:off x="9537192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2" name="waffle85"/>
          <p:cNvSpPr/>
          <p:nvPr/>
        </p:nvSpPr>
        <p:spPr>
          <a:xfrm>
            <a:off x="9875520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3" name="waffle86"/>
          <p:cNvSpPr/>
          <p:nvPr/>
        </p:nvSpPr>
        <p:spPr>
          <a:xfrm>
            <a:off x="10213848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4" name="waffle87"/>
          <p:cNvSpPr/>
          <p:nvPr/>
        </p:nvSpPr>
        <p:spPr>
          <a:xfrm>
            <a:off x="10552176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5" name="waffle88"/>
          <p:cNvSpPr/>
          <p:nvPr/>
        </p:nvSpPr>
        <p:spPr>
          <a:xfrm>
            <a:off x="10890504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6" name="waffle89"/>
          <p:cNvSpPr/>
          <p:nvPr/>
        </p:nvSpPr>
        <p:spPr>
          <a:xfrm>
            <a:off x="11228832" y="3803904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7" name="waffle90"/>
          <p:cNvSpPr/>
          <p:nvPr/>
        </p:nvSpPr>
        <p:spPr>
          <a:xfrm>
            <a:off x="8183880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8" name="waffle91"/>
          <p:cNvSpPr/>
          <p:nvPr/>
        </p:nvSpPr>
        <p:spPr>
          <a:xfrm>
            <a:off x="8522208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99" name="waffle92"/>
          <p:cNvSpPr/>
          <p:nvPr/>
        </p:nvSpPr>
        <p:spPr>
          <a:xfrm>
            <a:off x="8860536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0" name="waffle93"/>
          <p:cNvSpPr/>
          <p:nvPr/>
        </p:nvSpPr>
        <p:spPr>
          <a:xfrm>
            <a:off x="9198864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1" name="waffle94"/>
          <p:cNvSpPr/>
          <p:nvPr/>
        </p:nvSpPr>
        <p:spPr>
          <a:xfrm>
            <a:off x="9537192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2" name="waffle95"/>
          <p:cNvSpPr/>
          <p:nvPr/>
        </p:nvSpPr>
        <p:spPr>
          <a:xfrm>
            <a:off x="9875520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3" name="waffle96"/>
          <p:cNvSpPr/>
          <p:nvPr/>
        </p:nvSpPr>
        <p:spPr>
          <a:xfrm>
            <a:off x="10213848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4" name="waffle97"/>
          <p:cNvSpPr/>
          <p:nvPr/>
        </p:nvSpPr>
        <p:spPr>
          <a:xfrm>
            <a:off x="10552176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5" name="waffle98"/>
          <p:cNvSpPr/>
          <p:nvPr/>
        </p:nvSpPr>
        <p:spPr>
          <a:xfrm>
            <a:off x="10890504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6" name="waffle99"/>
          <p:cNvSpPr/>
          <p:nvPr/>
        </p:nvSpPr>
        <p:spPr>
          <a:xfrm>
            <a:off x="11228832" y="4142232"/>
            <a:ext cx="274320" cy="274320"/>
          </a:xfrm>
          <a:prstGeom prst="rect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183880" y="4654296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841248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Población objetivo · 22.7%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8183880" y="4974336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8412480" y="4910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Resto de la población potencial · 3.5%</a:t>
            </a:r>
            <a:endParaRPr lang="en-US" sz="1100" dirty="0"/>
          </a:p>
        </p:txBody>
      </p:sp>
      <p:sp>
        <p:nvSpPr>
          <p:cNvPr id="111" name="Text 109"/>
          <p:cNvSpPr txBox="1"/>
          <p:nvPr/>
        </p:nvSpPr>
        <p:spPr>
          <a:xfrm>
            <a:off x="8183880" y="5303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Cada cuadro representa 1% de los 36.2 millones de hogares del país, 2020.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01 · PLANTEAMIENTO DEL PROBLEMA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Panorama de la necesidad de vivienda en México, 2020</a:t>
            </a:r>
            <a:endParaRPr lang="en-US" sz="2600" dirty="0"/>
          </a:p>
        </p:txBody>
      </p:sp>
      <p:sp>
        <p:nvSpPr>
          <p:cNvPr id="4" name="chip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8.9 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81912" y="1389888"/>
            <a:ext cx="155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Viviendas en rezago habitacional (25.2%)</a:t>
            </a:r>
            <a:r>
              <a:rPr lang="en-US" sz="1200" b="1" baseline="300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chip2"/>
          <p:cNvSpPr/>
          <p:nvPr/>
        </p:nvSpPr>
        <p:spPr>
          <a:xfrm>
            <a:off x="3322244" y="1371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22244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11.8 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55516" y="1389888"/>
            <a:ext cx="155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Personas con carencia por calidad y espacios de la vivienda</a:t>
            </a:r>
            <a:r>
              <a:rPr lang="en-US" sz="1200" b="1" baseline="30000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vrule3"/>
          <p:cNvSpPr/>
          <p:nvPr/>
        </p:nvSpPr>
        <p:spPr>
          <a:xfrm>
            <a:off x="3185084" y="1371600"/>
            <a:ext cx="0" cy="123444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1" name="chip4"/>
          <p:cNvSpPr/>
          <p:nvPr/>
        </p:nvSpPr>
        <p:spPr>
          <a:xfrm>
            <a:off x="6095848" y="1371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5848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30.6%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29120" y="1389888"/>
            <a:ext cx="155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 las viviendas no son propias</a:t>
            </a:r>
            <a:r>
              <a:rPr lang="en-US" sz="1200" b="1" baseline="300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29120" y="1975104"/>
            <a:ext cx="15574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16.4% rentadas y 14.2% prestadas. La mitad de quienes rentan lo hace por falta de crédito o recursos.</a:t>
            </a:r>
            <a:endParaRPr lang="en-US" sz="1000" dirty="0"/>
          </a:p>
        </p:txBody>
      </p:sp>
      <p:sp>
        <p:nvSpPr>
          <p:cNvPr id="15" name="vrule5"/>
          <p:cNvSpPr/>
          <p:nvPr/>
        </p:nvSpPr>
        <p:spPr>
          <a:xfrm>
            <a:off x="5958688" y="1371600"/>
            <a:ext cx="0" cy="123444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6" name="chip6"/>
          <p:cNvSpPr/>
          <p:nvPr/>
        </p:nvSpPr>
        <p:spPr>
          <a:xfrm>
            <a:off x="8869451" y="13716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451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7.6 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02723" y="1389888"/>
            <a:ext cx="155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Hogares necesitan una vivienda</a:t>
            </a:r>
            <a:r>
              <a:rPr lang="en-US" sz="1200" b="1" baseline="300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vrule7"/>
          <p:cNvSpPr/>
          <p:nvPr/>
        </p:nvSpPr>
        <p:spPr>
          <a:xfrm>
            <a:off x="8732291" y="1371600"/>
            <a:ext cx="0" cy="123444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24612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s-MX" sz="1600" dirty="0"/>
              <a:t>La </a:t>
            </a:r>
            <a:r>
              <a:rPr lang="es-MX" sz="2000" b="1" dirty="0">
                <a:solidFill>
                  <a:schemeClr val="tx2"/>
                </a:solidFill>
              </a:rPr>
              <a:t>necesidad</a:t>
            </a:r>
            <a:r>
              <a:rPr lang="es-MX" sz="2000" dirty="0"/>
              <a:t> </a:t>
            </a:r>
            <a:r>
              <a:rPr lang="es-MX" sz="1600" dirty="0"/>
              <a:t>se concentra en hogares de bajos ingresos, sin </a:t>
            </a:r>
            <a:r>
              <a:rPr lang="es-MX" sz="1600" dirty="0" err="1"/>
              <a:t>derechohabiencia</a:t>
            </a:r>
            <a:r>
              <a:rPr lang="es-MX" sz="1600" dirty="0"/>
              <a:t> y en grupos prioritarios</a:t>
            </a:r>
            <a:r>
              <a:rPr lang="es-MX" sz="1600" baseline="30000" dirty="0"/>
              <a:t>1</a:t>
            </a:r>
            <a:r>
              <a:rPr lang="es-MX" sz="1600" dirty="0"/>
              <a:t>, y varía según la carencia, el territorio y la población. Para que el </a:t>
            </a:r>
            <a:r>
              <a:rPr lang="es-MX" b="1" dirty="0">
                <a:solidFill>
                  <a:schemeClr val="tx2"/>
                </a:solidFill>
              </a:rPr>
              <a:t>Programa</a:t>
            </a:r>
            <a:r>
              <a:rPr lang="es-MX" dirty="0"/>
              <a:t> llegue a quien más lo necesita</a:t>
            </a:r>
            <a:r>
              <a:rPr lang="es-MX" sz="1600" dirty="0"/>
              <a:t>, se requieren </a:t>
            </a:r>
            <a:r>
              <a:rPr lang="es-MX" sz="1600" b="1" dirty="0">
                <a:solidFill>
                  <a:schemeClr val="tx2"/>
                </a:solidFill>
              </a:rPr>
              <a:t>criterios claros, medibles y basados en evidencia</a:t>
            </a:r>
            <a:r>
              <a:rPr lang="es-MX" sz="1600" dirty="0"/>
              <a:t> para identificar y dimensionar a su población objetivo.</a:t>
            </a:r>
            <a:endParaRPr lang="es-MX" sz="1600" dirty="0">
              <a:ea typeface="Noto Sans"/>
              <a:cs typeface="Noto Sans"/>
            </a:endParaRPr>
          </a:p>
        </p:txBody>
      </p:sp>
      <p:sp>
        <p:nvSpPr>
          <p:cNvPr id="21" name="box8"/>
          <p:cNvSpPr/>
          <p:nvPr/>
        </p:nvSpPr>
        <p:spPr>
          <a:xfrm>
            <a:off x="6583680" y="3154680"/>
            <a:ext cx="5059375" cy="2697480"/>
          </a:xfrm>
          <a:prstGeom prst="rect">
            <a:avLst/>
          </a:prstGeom>
          <a:ln w="15875">
            <a:solidFill>
              <a:srgbClr val="2E455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903720" y="341071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accent2"/>
                </a:solidFill>
              </a:rPr>
              <a:t>PREGUNTA DE ANÁLISIS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721608"/>
            <a:ext cx="4419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¿Qué características deberían considerarse para identificar y dimensionar a la población potencialmente susceptible de ser atendida por un programa público de vivienda como el Programa de Vivienda para el Bienestar?</a:t>
            </a:r>
            <a:endParaRPr lang="en-US" sz="1400" dirty="0"/>
          </a:p>
        </p:txBody>
      </p:sp>
      <p:sp>
        <p:nvSpPr>
          <p:cNvPr id="24" name="chip9"/>
          <p:cNvSpPr/>
          <p:nvPr/>
        </p:nvSpPr>
        <p:spPr>
          <a:xfrm>
            <a:off x="6903720" y="49103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4855464"/>
            <a:ext cx="4007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Definir criterios de identificación trazables a la ENVI 2020 y coherentes con las reglas de operación.</a:t>
            </a:r>
            <a:endParaRPr lang="en-US" sz="1150" dirty="0"/>
          </a:p>
        </p:txBody>
      </p:sp>
      <p:sp>
        <p:nvSpPr>
          <p:cNvPr id="27" name="chip10"/>
          <p:cNvSpPr/>
          <p:nvPr/>
        </p:nvSpPr>
        <p:spPr>
          <a:xfrm>
            <a:off x="6903720" y="53675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2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33488" y="5312664"/>
            <a:ext cx="40078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Dimensionar la población potencial y objetivo a nivel nacional, por entidad federativa y por tipo de atención.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Fuentes: </a:t>
            </a:r>
            <a:r>
              <a:rPr lang="en-US" sz="900" baseline="30000" dirty="0">
                <a:solidFill>
                  <a:schemeClr val="accent5"/>
                </a:solidFill>
              </a:rPr>
              <a:t>1</a:t>
            </a:r>
            <a:r>
              <a:rPr lang="en-US" sz="900" dirty="0">
                <a:solidFill>
                  <a:schemeClr val="accent5"/>
                </a:solidFill>
              </a:rPr>
              <a:t> Comisión Nacional de Vivienda (CONAVI).   </a:t>
            </a:r>
            <a:r>
              <a:rPr lang="en-US" sz="900" baseline="30000" dirty="0">
                <a:solidFill>
                  <a:schemeClr val="accent5"/>
                </a:solidFill>
              </a:rPr>
              <a:t>2</a:t>
            </a:r>
            <a:r>
              <a:rPr lang="en-US" sz="900" dirty="0">
                <a:solidFill>
                  <a:schemeClr val="accent5"/>
                </a:solidFill>
              </a:rPr>
              <a:t> Consejo Nacional de Evaluación de la Política de Desarrollo Social (CONEVAL).   </a:t>
            </a:r>
            <a:r>
              <a:rPr lang="en-US" sz="900" baseline="30000" dirty="0">
                <a:solidFill>
                  <a:schemeClr val="accent5"/>
                </a:solidFill>
              </a:rPr>
              <a:t>3</a:t>
            </a:r>
            <a:r>
              <a:rPr lang="en-US" sz="900" dirty="0">
                <a:solidFill>
                  <a:schemeClr val="accent5"/>
                </a:solidFill>
              </a:rPr>
              <a:t> Instituto Nacional de Estadística y Geografía (INEGI).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 · FUENTES DE INFORMACIÓN Y VARIABLES</a:t>
            </a:r>
            <a:endParaRPr lang="en-US" sz="1500" dirty="0"/>
          </a:p>
        </p:txBody>
      </p:sp>
      <p:sp>
        <p:nvSpPr>
          <p:cNvPr id="3" name="box11"/>
          <p:cNvSpPr/>
          <p:nvPr/>
        </p:nvSpPr>
        <p:spPr>
          <a:xfrm>
            <a:off x="548640" y="1051560"/>
            <a:ext cx="3931920" cy="5120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07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Fuentes de información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2"/>
                </a:solidFill>
              </a:rPr>
              <a:t>DATOS ESTADÍSTICOS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Instituto Nacional de Estadística y Geografía (INEGI)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Encuesta Nacional de Vivienda (ENVI) 2020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Microdatos de vivienda, hogar, personas y demanda de vivienda.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i="1" dirty="0">
                <a:solidFill>
                  <a:schemeClr val="accent5"/>
                </a:solidFill>
              </a:rPr>
              <a:t>Cuadre exacto con los tabulados oficiales: 36,210,467 hogares expandidos, diferencia 0.</a:t>
            </a:r>
            <a:endParaRPr lang="en-US" sz="1100" dirty="0"/>
          </a:p>
        </p:txBody>
      </p:sp>
      <p:sp>
        <p:nvSpPr>
          <p:cNvPr id="7" name="rule12"/>
          <p:cNvSpPr/>
          <p:nvPr/>
        </p:nvSpPr>
        <p:spPr>
          <a:xfrm>
            <a:off x="822960" y="3703320"/>
            <a:ext cx="3383280" cy="0"/>
          </a:xfrm>
          <a:prstGeom prst="line">
            <a:avLst/>
          </a:prstGeom>
          <a:noFill/>
          <a:ln w="9525">
            <a:solidFill>
              <a:srgbClr val="A9BA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67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2"/>
                </a:solidFill>
              </a:rPr>
              <a:t>DATOS NORMATIVOS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42232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Comisión Nacional de Vivienda (CONAVI)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Reglas de Operación del Programa de Vivienda Social (S177), 2026; Nota metodológica de poblaciones S177 y rezago habitacional.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Programa de Vivienda para el Bienestar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Manual de Operación del esquema, 2025.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Instituto del Fondo Nacional de la Vivienda para los Trabajadores (INFONAVIT)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Reglas de Vivienda para el Bienestar.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051560"/>
            <a:ext cx="675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Variables utilizadas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417320"/>
            <a:ext cx="6751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Microdatos de la ENVI 2020: tablas TVIVIENDA, THOGAR, TSDEM y TDEMANDA, unidas a nivel hogar.</a:t>
            </a:r>
            <a:endParaRPr lang="en-US" sz="1050" dirty="0"/>
          </a:p>
        </p:txBody>
      </p:sp>
      <p:sp>
        <p:nvSpPr>
          <p:cNvPr id="12" name="rule13"/>
          <p:cNvSpPr/>
          <p:nvPr/>
        </p:nvSpPr>
        <p:spPr>
          <a:xfrm>
            <a:off x="4892040" y="18288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9202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Condiciones físicas de la vivienda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402775" y="1938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TVIVIENDA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1945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Mide calidad y espacio: materiales, cuartos y residentes, excusado, servicios básicos, daño estructural y mejoras declaradas.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rezago habitacional, mejoramiento y ampliación.</a:t>
            </a:r>
            <a:endParaRPr lang="en-US" sz="1050" dirty="0"/>
          </a:p>
        </p:txBody>
      </p:sp>
      <p:sp>
        <p:nvSpPr>
          <p:cNvPr id="17" name="rule14"/>
          <p:cNvSpPr/>
          <p:nvPr/>
        </p:nvSpPr>
        <p:spPr>
          <a:xfrm>
            <a:off x="4892040" y="25527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6441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6441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Situación y demanda de vivienda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02775" y="26624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THOGAR · TVIVIENDA · TDEMANDA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184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Identifica hogares sin vivienda propia o que buscan una: hogar secundario, vivienda rentada o prestada e intención de rentar, comprar o construir.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vivienda nueva, adquisición y lote propio.</a:t>
            </a:r>
            <a:endParaRPr lang="en-US" sz="1050" dirty="0"/>
          </a:p>
        </p:txBody>
      </p:sp>
      <p:sp>
        <p:nvSpPr>
          <p:cNvPr id="22" name="rule15"/>
          <p:cNvSpPr/>
          <p:nvPr/>
        </p:nvSpPr>
        <p:spPr>
          <a:xfrm>
            <a:off x="4892040" y="32766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368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3680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Tenencia y propiedad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402775" y="3386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TVIVIENDA · THOGAR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6423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Establece la seguridad jurídica del hogar: régimen de tenencia, escritura a nombre del dueño y propiedad de otra vivienda.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posesión, exclusión y regularización.</a:t>
            </a:r>
            <a:endParaRPr lang="en-US" sz="1050" dirty="0"/>
          </a:p>
        </p:txBody>
      </p:sp>
      <p:sp>
        <p:nvSpPr>
          <p:cNvPr id="27" name="rule16"/>
          <p:cNvSpPr/>
          <p:nvPr/>
        </p:nvSpPr>
        <p:spPr>
          <a:xfrm>
            <a:off x="4892040" y="40005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40919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40919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Ingreso y acceso a crédito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02775" y="41102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TSDEM · TDEMANDA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43662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Calcula el ingreso laboral mensual del hogar y registra la derechohabiencia INFONAVIT o FOVISSSTE y el financiamiento previsto.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umbral de 5 UMA y adquisición con crédito.</a:t>
            </a:r>
            <a:endParaRPr lang="en-US" sz="1050" dirty="0"/>
          </a:p>
        </p:txBody>
      </p:sp>
      <p:sp>
        <p:nvSpPr>
          <p:cNvPr id="32" name="rule17"/>
          <p:cNvSpPr/>
          <p:nvPr/>
        </p:nvSpPr>
        <p:spPr>
          <a:xfrm>
            <a:off x="4892040" y="47244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481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48158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Características de las personas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402775" y="4834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TSDEM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50901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Describe a los integrantes: sexo y edad de la jefatura, lengua o autoadscripción indígena y limitación permanente.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grupos de atención prioritaria.</a:t>
            </a:r>
            <a:endParaRPr lang="en-US" sz="1050" dirty="0"/>
          </a:p>
        </p:txBody>
      </p:sp>
      <p:sp>
        <p:nvSpPr>
          <p:cNvPr id="37" name="rule18"/>
          <p:cNvSpPr/>
          <p:nvPr/>
        </p:nvSpPr>
        <p:spPr>
          <a:xfrm>
            <a:off x="4892040" y="5448300"/>
            <a:ext cx="675101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92040" y="5539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55397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Ubicación y tipo de edificación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402775" y="55580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Diseño muestral · TVIVIENDA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394960" y="5814060"/>
            <a:ext cx="624809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Ubica al hogar y su edificación: entidad, tamaño de localidad, vivienda multifamiliar y estado de las áreas comunes. </a:t>
            </a:r>
            <a:r>
              <a:rPr lang="en-US" sz="1050" b="1" dirty="0">
                <a:solidFill>
                  <a:schemeClr val="accent2"/>
                </a:solidFill>
              </a:rPr>
              <a:t>Uso: </a:t>
            </a:r>
            <a:r>
              <a:rPr lang="en-US" sz="1050" dirty="0">
                <a:solidFill>
                  <a:schemeClr val="tx1"/>
                </a:solidFill>
              </a:rPr>
              <a:t>desagregación territorial y unidades habitacionales.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 · METODOLOGÍA (1/3) · ENFOQUE Y FUNDAMENTO NORMATIVO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La identificación se construye por reglas: cada criterio normativo del programa se traduce en una condición observable en la ENVI 2020.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/>
              <a:t>Se </a:t>
            </a:r>
            <a:r>
              <a:rPr lang="en-US" sz="1300" dirty="0" err="1"/>
              <a:t>adopta</a:t>
            </a:r>
            <a:r>
              <a:rPr lang="en-US" sz="1300" dirty="0"/>
              <a:t> el </a:t>
            </a:r>
            <a:r>
              <a:rPr lang="en-US" sz="1300" dirty="0" err="1"/>
              <a:t>enfoque</a:t>
            </a:r>
            <a:r>
              <a:rPr lang="en-US" sz="1300" dirty="0"/>
              <a:t> de </a:t>
            </a:r>
            <a:r>
              <a:rPr lang="en-US" sz="1300" dirty="0" err="1"/>
              <a:t>estimación</a:t>
            </a:r>
            <a:r>
              <a:rPr lang="en-US" sz="1300" dirty="0"/>
              <a:t> </a:t>
            </a:r>
            <a:r>
              <a:rPr lang="en-US" sz="1300" dirty="0" err="1"/>
              <a:t>por</a:t>
            </a:r>
            <a:r>
              <a:rPr lang="en-US" sz="1300" dirty="0"/>
              <a:t> </a:t>
            </a:r>
            <a:r>
              <a:rPr lang="en-US" sz="1300" dirty="0" err="1"/>
              <a:t>reglas</a:t>
            </a:r>
            <a:r>
              <a:rPr lang="en-US" sz="1300" dirty="0"/>
              <a:t> con factor de </a:t>
            </a:r>
            <a:r>
              <a:rPr lang="en-US" sz="1300" dirty="0" err="1"/>
              <a:t>expansión</a:t>
            </a:r>
            <a:r>
              <a:rPr lang="en-US" sz="1300" dirty="0"/>
              <a:t> </a:t>
            </a:r>
            <a:r>
              <a:rPr lang="en-US" sz="1300" dirty="0" err="1"/>
              <a:t>que</a:t>
            </a:r>
            <a:r>
              <a:rPr lang="en-US" sz="1300" dirty="0"/>
              <a:t> </a:t>
            </a:r>
            <a:r>
              <a:rPr lang="en-US" sz="1300" dirty="0" err="1"/>
              <a:t>emplea</a:t>
            </a:r>
            <a:r>
              <a:rPr lang="en-US" sz="1300" dirty="0"/>
              <a:t> la CONAVI para </a:t>
            </a:r>
            <a:r>
              <a:rPr lang="en-US" sz="1300" dirty="0" err="1"/>
              <a:t>cuantificar</a:t>
            </a:r>
            <a:r>
              <a:rPr lang="en-US" sz="1300" dirty="0"/>
              <a:t> sus </a:t>
            </a:r>
            <a:r>
              <a:rPr lang="en-US" sz="1300" dirty="0" err="1"/>
              <a:t>poblaciones</a:t>
            </a:r>
            <a:r>
              <a:rPr lang="en-US" sz="1300" dirty="0"/>
              <a:t> </a:t>
            </a:r>
            <a:r>
              <a:rPr lang="en-US" sz="1300" dirty="0" err="1"/>
              <a:t>potencial</a:t>
            </a:r>
            <a:r>
              <a:rPr lang="en-US" sz="1300" dirty="0"/>
              <a:t> y </a:t>
            </a:r>
            <a:r>
              <a:rPr lang="en-US" sz="1300" dirty="0" err="1"/>
              <a:t>objetivo</a:t>
            </a:r>
            <a:r>
              <a:rPr lang="en-US" sz="1300" dirty="0"/>
              <a:t>. Cada </a:t>
            </a:r>
            <a:r>
              <a:rPr lang="en-US" sz="1300" dirty="0" err="1"/>
              <a:t>hogar</a:t>
            </a:r>
            <a:r>
              <a:rPr lang="en-US" sz="1300" dirty="0"/>
              <a:t> se </a:t>
            </a:r>
            <a:r>
              <a:rPr lang="en-US" sz="1300" dirty="0" err="1"/>
              <a:t>clasifica</a:t>
            </a:r>
            <a:r>
              <a:rPr lang="en-US" sz="1300" dirty="0"/>
              <a:t> </a:t>
            </a:r>
            <a:r>
              <a:rPr lang="en-US" sz="1300" dirty="0" err="1"/>
              <a:t>según</a:t>
            </a:r>
            <a:r>
              <a:rPr lang="en-US" sz="1300" dirty="0"/>
              <a:t> las </a:t>
            </a:r>
            <a:r>
              <a:rPr lang="en-US" sz="1300" dirty="0" err="1"/>
              <a:t>condiciones</a:t>
            </a:r>
            <a:r>
              <a:rPr lang="en-US" sz="1300" dirty="0"/>
              <a:t> </a:t>
            </a:r>
            <a:r>
              <a:rPr lang="en-US" sz="1300" dirty="0" err="1"/>
              <a:t>que</a:t>
            </a:r>
            <a:r>
              <a:rPr lang="en-US" sz="1300" dirty="0"/>
              <a:t> </a:t>
            </a:r>
            <a:r>
              <a:rPr lang="en-US" sz="1300" dirty="0" err="1"/>
              <a:t>cumple</a:t>
            </a:r>
            <a:r>
              <a:rPr lang="en-US" sz="1300" dirty="0"/>
              <a:t> y </a:t>
            </a:r>
            <a:r>
              <a:rPr lang="en-US" sz="1300" dirty="0" err="1"/>
              <a:t>los</a:t>
            </a:r>
            <a:r>
              <a:rPr lang="en-US" sz="1300" dirty="0"/>
              <a:t> </a:t>
            </a:r>
            <a:r>
              <a:rPr lang="en-US" sz="1300" dirty="0" err="1"/>
              <a:t>totales</a:t>
            </a:r>
            <a:r>
              <a:rPr lang="en-US" sz="1300" dirty="0"/>
              <a:t> se </a:t>
            </a:r>
            <a:r>
              <a:rPr lang="en-US" sz="1300" dirty="0" err="1"/>
              <a:t>obtienen</a:t>
            </a:r>
            <a:r>
              <a:rPr lang="en-US" sz="1300" dirty="0"/>
              <a:t> </a:t>
            </a:r>
            <a:r>
              <a:rPr lang="en-US" sz="1300" dirty="0" err="1"/>
              <a:t>expandiendo</a:t>
            </a:r>
            <a:r>
              <a:rPr lang="en-US" sz="1300" dirty="0"/>
              <a:t> la </a:t>
            </a:r>
            <a:r>
              <a:rPr lang="en-US" sz="1300" dirty="0" err="1"/>
              <a:t>muestra</a:t>
            </a:r>
            <a:r>
              <a:rPr lang="en-US" sz="1300" dirty="0"/>
              <a:t> con el </a:t>
            </a:r>
            <a:r>
              <a:rPr lang="en-US" sz="1300" dirty="0" err="1"/>
              <a:t>diseño</a:t>
            </a:r>
            <a:r>
              <a:rPr lang="en-US" sz="1300" dirty="0"/>
              <a:t> de la </a:t>
            </a:r>
            <a:r>
              <a:rPr lang="en-US" sz="1300" dirty="0" err="1"/>
              <a:t>encuesta</a:t>
            </a:r>
            <a:r>
              <a:rPr lang="en-US" sz="1300" dirty="0"/>
              <a:t>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1300" dirty="0"/>
              <a:t>Las </a:t>
            </a:r>
            <a:r>
              <a:rPr lang="en-US" sz="1300" dirty="0" err="1"/>
              <a:t>reglas</a:t>
            </a:r>
            <a:r>
              <a:rPr lang="en-US" sz="1300" dirty="0"/>
              <a:t> de la CONAVI y del INFONAVIT </a:t>
            </a:r>
            <a:r>
              <a:rPr lang="en-US" sz="1300" dirty="0" err="1"/>
              <a:t>forman</a:t>
            </a:r>
            <a:r>
              <a:rPr lang="en-US" sz="1300" dirty="0"/>
              <a:t> </a:t>
            </a:r>
            <a:r>
              <a:rPr lang="en-US" sz="1300" dirty="0" err="1"/>
              <a:t>parte</a:t>
            </a:r>
            <a:r>
              <a:rPr lang="en-US" sz="1300" dirty="0"/>
              <a:t> de un </a:t>
            </a:r>
            <a:r>
              <a:rPr lang="en-US" sz="1300" dirty="0" err="1"/>
              <a:t>mismo</a:t>
            </a:r>
            <a:r>
              <a:rPr lang="en-US" sz="1300" dirty="0"/>
              <a:t> </a:t>
            </a:r>
            <a:r>
              <a:rPr lang="en-US" sz="1300" dirty="0" err="1"/>
              <a:t>Programa</a:t>
            </a:r>
            <a:r>
              <a:rPr lang="en-US" sz="1300" dirty="0"/>
              <a:t> de Vivienda para el </a:t>
            </a:r>
            <a:r>
              <a:rPr lang="en-US" sz="1300" dirty="0" err="1"/>
              <a:t>Bienestar</a:t>
            </a:r>
            <a:r>
              <a:rPr lang="en-US" sz="1300" dirty="0"/>
              <a:t>. Por </a:t>
            </a:r>
            <a:r>
              <a:rPr lang="en-US" sz="1300" dirty="0" err="1"/>
              <a:t>ello</a:t>
            </a:r>
            <a:r>
              <a:rPr lang="en-US" sz="1300" dirty="0"/>
              <a:t>, sus </a:t>
            </a:r>
            <a:r>
              <a:rPr lang="en-US" sz="1300" dirty="0" err="1"/>
              <a:t>condiciones</a:t>
            </a:r>
            <a:r>
              <a:rPr lang="en-US" sz="1300" dirty="0"/>
              <a:t> se </a:t>
            </a:r>
            <a:r>
              <a:rPr lang="en-US" sz="1300" dirty="0" err="1"/>
              <a:t>integran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</a:t>
            </a:r>
            <a:r>
              <a:rPr lang="en-US" sz="1300" dirty="0" err="1"/>
              <a:t>una</a:t>
            </a:r>
            <a:r>
              <a:rPr lang="en-US" sz="1300" dirty="0"/>
              <a:t> sola </a:t>
            </a:r>
            <a:r>
              <a:rPr lang="en-US" sz="1300" dirty="0" err="1"/>
              <a:t>estimación</a:t>
            </a:r>
            <a:r>
              <a:rPr lang="en-US" sz="1300" dirty="0"/>
              <a:t> y no </a:t>
            </a:r>
            <a:r>
              <a:rPr lang="en-US" sz="1300" dirty="0" err="1"/>
              <a:t>en</a:t>
            </a:r>
            <a:r>
              <a:rPr lang="en-US" sz="1300" dirty="0"/>
              <a:t> dos </a:t>
            </a:r>
            <a:r>
              <a:rPr lang="en-US" sz="1300" dirty="0" err="1"/>
              <a:t>poblaciones</a:t>
            </a:r>
            <a:r>
              <a:rPr lang="en-US" sz="1300" dirty="0"/>
              <a:t> </a:t>
            </a:r>
            <a:r>
              <a:rPr lang="en-US" sz="1300" dirty="0" err="1"/>
              <a:t>separadas</a:t>
            </a:r>
            <a:r>
              <a:rPr lang="en-US" sz="1300" dirty="0"/>
              <a:t>.</a:t>
            </a:r>
            <a:endParaRPr lang="en-US" sz="1300" dirty="0">
              <a:ea typeface="Noto Sans"/>
              <a:cs typeface="Noto Sans"/>
            </a:endParaRPr>
          </a:p>
        </p:txBody>
      </p:sp>
      <p:sp>
        <p:nvSpPr>
          <p:cNvPr id="5" name="vrule19"/>
          <p:cNvSpPr/>
          <p:nvPr/>
        </p:nvSpPr>
        <p:spPr>
          <a:xfrm>
            <a:off x="5852160" y="1097280"/>
            <a:ext cx="0" cy="50292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09728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DOCUMENTOS QUE SUSTENTAN LOS CRITERIOS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481328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Reglas de Operación S177, 2026 · CONAVI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73936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→  </a:t>
            </a:r>
            <a:r>
              <a:rPr lang="en-US" sz="1150" dirty="0">
                <a:solidFill>
                  <a:schemeClr val="tx1"/>
                </a:solidFill>
              </a:rPr>
              <a:t>población potencial, objetivo y prioritaria; modalidades, requisitos y montos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2860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Manual de Operación Vivienda para el Bienestar, 2025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578608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→  </a:t>
            </a:r>
            <a:r>
              <a:rPr lang="en-US" sz="1150" dirty="0">
                <a:solidFill>
                  <a:schemeClr val="tx1"/>
                </a:solidFill>
              </a:rPr>
              <a:t>proceso de selección y criterios de elegibilidad del esquema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090672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Nota metodológica de poblaciones S177 · CONAVI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383280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→  </a:t>
            </a:r>
            <a:r>
              <a:rPr lang="en-US" sz="1150" dirty="0">
                <a:solidFill>
                  <a:schemeClr val="tx1"/>
                </a:solidFill>
              </a:rPr>
              <a:t>catálogo de materiales, umbral de hacinamiento y definición de necesidad de vivienda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895344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Reglas de Vivienda para el Bienestar · INFONAVIT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187952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→  </a:t>
            </a:r>
            <a:r>
              <a:rPr lang="en-US" sz="1150" dirty="0">
                <a:solidFill>
                  <a:schemeClr val="tx1"/>
                </a:solidFill>
              </a:rPr>
              <a:t>condiciones de acceso para derechohabientes (fuente secundaria)</a:t>
            </a:r>
            <a:endParaRPr lang="en-US" sz="1150" dirty="0"/>
          </a:p>
        </p:txBody>
      </p:sp>
      <p:sp>
        <p:nvSpPr>
          <p:cNvPr id="16" name="box20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578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Proceso en dos fases     </a:t>
            </a:r>
            <a:r>
              <a:rPr lang="en-US" sz="1300" b="1" dirty="0">
                <a:solidFill>
                  <a:schemeClr val="accent2"/>
                </a:solidFill>
              </a:rPr>
              <a:t>Fase 1 · </a:t>
            </a:r>
            <a:r>
              <a:rPr lang="en-US" sz="1300" dirty="0">
                <a:solidFill>
                  <a:schemeClr val="tx1"/>
                </a:solidFill>
              </a:rPr>
              <a:t>Tipos de atención del programa y sus requisitos</a:t>
            </a:r>
            <a:r>
              <a:rPr lang="en-US" sz="1300" b="1" dirty="0">
                <a:solidFill>
                  <a:schemeClr val="accent2"/>
                </a:solidFill>
              </a:rPr>
              <a:t>     →     Fase 2 · </a:t>
            </a:r>
            <a:r>
              <a:rPr lang="en-US" sz="1300" dirty="0">
                <a:solidFill>
                  <a:schemeClr val="tx1"/>
                </a:solidFill>
              </a:rPr>
              <a:t>Etiquetas y reglas de asociación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 · METODOLOGÍA (2/3) · DE LA NORMA AL DATO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accent2"/>
                </a:solidFill>
              </a:rPr>
              <a:t>FASE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27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Identificación de los tipos de atención</a:t>
            </a:r>
            <a:endParaRPr lang="en-US" sz="1800" dirty="0"/>
          </a:p>
        </p:txBody>
      </p:sp>
      <p:sp>
        <p:nvSpPr>
          <p:cNvPr id="5" name="rule21"/>
          <p:cNvSpPr/>
          <p:nvPr/>
        </p:nvSpPr>
        <p:spPr>
          <a:xfrm>
            <a:off x="548640" y="1874520"/>
            <a:ext cx="527288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527288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revisan las modalidades del programa y sus requisitos en las Reglas de Operación y en las reglas del INFONAVIT.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modalidad se clasifica según su función: acceso a vivienda, intervención en sitio, o entorno y tenencia.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evalúa si la ENVI 2020 permite observar a la población de cada modalidad.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Resultado: ocho tipos de atención estimables. Reubicación y reconstrucción quedan fuera, pues dependen de dictámenes de riesgo y declaratorias de desastre.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109728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accent2"/>
                </a:solidFill>
              </a:rPr>
              <a:t>FASE 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370168" y="1371600"/>
            <a:ext cx="527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Construcción de etiquetas observables</a:t>
            </a:r>
            <a:endParaRPr lang="en-US" sz="1800" dirty="0"/>
          </a:p>
        </p:txBody>
      </p:sp>
      <p:sp>
        <p:nvSpPr>
          <p:cNvPr id="9" name="rule22"/>
          <p:cNvSpPr/>
          <p:nvPr/>
        </p:nvSpPr>
        <p:spPr>
          <a:xfrm>
            <a:off x="6370168" y="1874520"/>
            <a:ext cx="527288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0168" y="2103120"/>
            <a:ext cx="527288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/>
              <a:t>Cada </a:t>
            </a:r>
            <a:r>
              <a:rPr lang="en-US" sz="1400" dirty="0" err="1"/>
              <a:t>requisito</a:t>
            </a:r>
            <a:r>
              <a:rPr lang="en-US" sz="1400" dirty="0"/>
              <a:t> se traduce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b="1" dirty="0" err="1"/>
              <a:t>etiqueta</a:t>
            </a:r>
            <a:r>
              <a:rPr lang="en-US" sz="1400" b="1" dirty="0"/>
              <a:t> </a:t>
            </a:r>
            <a:r>
              <a:rPr lang="en-US" sz="1400" b="1" dirty="0" err="1"/>
              <a:t>binaria</a:t>
            </a:r>
            <a:r>
              <a:rPr lang="en-US" sz="1400" b="1" dirty="0"/>
              <a:t> (0/1)</a:t>
            </a:r>
            <a:r>
              <a:rPr lang="en-US" sz="1400" dirty="0"/>
              <a:t> </a:t>
            </a:r>
            <a:r>
              <a:rPr lang="en-US" sz="1400" dirty="0" err="1"/>
              <a:t>trazable</a:t>
            </a:r>
            <a:r>
              <a:rPr lang="en-US" sz="1400" dirty="0"/>
              <a:t> a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pregunta</a:t>
            </a:r>
            <a:r>
              <a:rPr lang="en-US" sz="1400" dirty="0"/>
              <a:t> </a:t>
            </a:r>
            <a:r>
              <a:rPr lang="en-US" sz="1400" dirty="0" err="1"/>
              <a:t>específica</a:t>
            </a:r>
            <a:r>
              <a:rPr lang="en-US" sz="1400" dirty="0"/>
              <a:t> de la </a:t>
            </a:r>
            <a:r>
              <a:rPr lang="en-US" sz="1400" dirty="0" err="1"/>
              <a:t>encuesta</a:t>
            </a:r>
            <a:r>
              <a:rPr lang="en-US" sz="1400" dirty="0"/>
              <a:t>.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/>
              <a:t>Las </a:t>
            </a:r>
            <a:r>
              <a:rPr lang="en-US" sz="1400" dirty="0" err="1"/>
              <a:t>tablas</a:t>
            </a:r>
            <a:r>
              <a:rPr lang="en-US" sz="1400" dirty="0"/>
              <a:t> se </a:t>
            </a:r>
            <a:r>
              <a:rPr lang="en-US" sz="1400" dirty="0" err="1"/>
              <a:t>integran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sus </a:t>
            </a:r>
            <a:r>
              <a:rPr lang="en-US" sz="1400" dirty="0" err="1"/>
              <a:t>llaves</a:t>
            </a:r>
            <a:r>
              <a:rPr lang="en-US" sz="1400" dirty="0"/>
              <a:t>:  </a:t>
            </a:r>
            <a:r>
              <a:rPr lang="en-US" sz="1400" dirty="0" err="1"/>
              <a:t>vivienda</a:t>
            </a:r>
            <a:r>
              <a:rPr lang="en-US" sz="1400" dirty="0"/>
              <a:t>  →  </a:t>
            </a:r>
            <a:r>
              <a:rPr lang="en-US" sz="1400" dirty="0" err="1"/>
              <a:t>hogar</a:t>
            </a:r>
            <a:r>
              <a:rPr lang="en-US" sz="1400" dirty="0"/>
              <a:t>  ←  personas  ←  </a:t>
            </a:r>
            <a:r>
              <a:rPr lang="en-US" sz="1400" dirty="0" err="1"/>
              <a:t>demanda</a:t>
            </a:r>
            <a:r>
              <a:rPr lang="en-US" sz="1400" dirty="0"/>
              <a:t>.</a:t>
            </a:r>
            <a:endParaRPr lang="en-US" sz="1400" dirty="0">
              <a:ea typeface="Noto Sans"/>
              <a:cs typeface="Noto Sans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/>
              <a:t>La </a:t>
            </a:r>
            <a:r>
              <a:rPr lang="en-US" sz="1400" dirty="0" err="1"/>
              <a:t>vivienda</a:t>
            </a:r>
            <a:r>
              <a:rPr lang="en-US" sz="1400" dirty="0"/>
              <a:t> </a:t>
            </a:r>
            <a:r>
              <a:rPr lang="en-US" sz="1400" dirty="0" err="1"/>
              <a:t>hereda</a:t>
            </a:r>
            <a:r>
              <a:rPr lang="en-US" sz="1400" dirty="0"/>
              <a:t> sus </a:t>
            </a:r>
            <a:r>
              <a:rPr lang="en-US" sz="1400" dirty="0" err="1"/>
              <a:t>condiciones</a:t>
            </a:r>
            <a:r>
              <a:rPr lang="en-US" sz="1400" dirty="0"/>
              <a:t> a </a:t>
            </a:r>
            <a:r>
              <a:rPr lang="en-US" sz="1400" dirty="0" err="1"/>
              <a:t>todos</a:t>
            </a:r>
            <a:r>
              <a:rPr lang="en-US" sz="1400" dirty="0"/>
              <a:t>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hogares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la </a:t>
            </a:r>
            <a:r>
              <a:rPr lang="en-US" sz="1400" dirty="0" err="1"/>
              <a:t>habitan</a:t>
            </a:r>
            <a:r>
              <a:rPr lang="en-US" sz="1400" dirty="0"/>
              <a:t>; de las personas basta con </a:t>
            </a:r>
            <a:r>
              <a:rPr lang="en-US" sz="1400" dirty="0" err="1"/>
              <a:t>que</a:t>
            </a:r>
            <a:r>
              <a:rPr lang="en-US" sz="1400" dirty="0"/>
              <a:t> un </a:t>
            </a:r>
            <a:r>
              <a:rPr lang="en-US" sz="1400" dirty="0" err="1"/>
              <a:t>integrante</a:t>
            </a:r>
            <a:r>
              <a:rPr lang="en-US" sz="1400" dirty="0"/>
              <a:t> </a:t>
            </a:r>
            <a:r>
              <a:rPr lang="en-US" sz="1400" dirty="0" err="1"/>
              <a:t>cumpla</a:t>
            </a:r>
            <a:r>
              <a:rPr lang="en-US" sz="1400" dirty="0"/>
              <a:t>.</a:t>
            </a:r>
            <a:endParaRPr lang="en-US" sz="1400" dirty="0">
              <a:ea typeface="Noto Sans"/>
              <a:cs typeface="Noto Sans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/>
              <a:t>El </a:t>
            </a:r>
            <a:r>
              <a:rPr lang="en-US" sz="1400" dirty="0" err="1"/>
              <a:t>ingreso</a:t>
            </a:r>
            <a:r>
              <a:rPr lang="en-US" sz="1400" dirty="0"/>
              <a:t> </a:t>
            </a:r>
            <a:r>
              <a:rPr lang="en-US" sz="1400" dirty="0" err="1"/>
              <a:t>laboral</a:t>
            </a:r>
            <a:r>
              <a:rPr lang="en-US" sz="1400" dirty="0"/>
              <a:t> se </a:t>
            </a:r>
            <a:r>
              <a:rPr lang="en-US" sz="1400" dirty="0" err="1"/>
              <a:t>mensualiza</a:t>
            </a:r>
            <a:r>
              <a:rPr lang="en-US" sz="1400" dirty="0"/>
              <a:t>;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montos</a:t>
            </a:r>
            <a:r>
              <a:rPr lang="en-US" sz="1400" dirty="0"/>
              <a:t> no </a:t>
            </a:r>
            <a:r>
              <a:rPr lang="en-US" sz="1400" dirty="0" err="1"/>
              <a:t>reportados</a:t>
            </a:r>
            <a:r>
              <a:rPr lang="en-US" sz="1400" dirty="0"/>
              <a:t> se </a:t>
            </a:r>
            <a:r>
              <a:rPr lang="en-US" sz="1400" dirty="0" err="1"/>
              <a:t>imputan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emparejamiento</a:t>
            </a:r>
            <a:r>
              <a:rPr lang="en-US" sz="1400" dirty="0"/>
              <a:t> de medias </a:t>
            </a:r>
            <a:r>
              <a:rPr lang="en-US" sz="1400" dirty="0" err="1"/>
              <a:t>predictivas</a:t>
            </a:r>
            <a:r>
              <a:rPr lang="en-US" sz="1400" dirty="0"/>
              <a:t> (PMM).</a:t>
            </a:r>
            <a:endParaRPr lang="en-US" sz="1400" dirty="0">
              <a:ea typeface="Noto Sans"/>
              <a:cs typeface="Noto Sans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Control de </a:t>
            </a:r>
            <a:r>
              <a:rPr lang="en-US" sz="1400" b="1" dirty="0" err="1">
                <a:solidFill>
                  <a:schemeClr val="tx2"/>
                </a:solidFill>
              </a:rPr>
              <a:t>calidad</a:t>
            </a:r>
            <a:r>
              <a:rPr lang="en-US" sz="1400" b="1" dirty="0">
                <a:solidFill>
                  <a:schemeClr val="tx2"/>
                </a:solidFill>
              </a:rPr>
              <a:t>: </a:t>
            </a:r>
            <a:r>
              <a:rPr lang="en-US" sz="1400" b="1" dirty="0" err="1">
                <a:solidFill>
                  <a:schemeClr val="tx2"/>
                </a:solidFill>
              </a:rPr>
              <a:t>llaves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únicas</a:t>
            </a:r>
            <a:r>
              <a:rPr lang="en-US" sz="1400" b="1" dirty="0">
                <a:solidFill>
                  <a:schemeClr val="tx2"/>
                </a:solidFill>
              </a:rPr>
              <a:t>, </a:t>
            </a:r>
            <a:r>
              <a:rPr lang="en-US" sz="1400" b="1" dirty="0" err="1">
                <a:solidFill>
                  <a:schemeClr val="tx2"/>
                </a:solidFill>
              </a:rPr>
              <a:t>consistencia</a:t>
            </a:r>
            <a:r>
              <a:rPr lang="en-US" sz="1400" b="1" dirty="0">
                <a:solidFill>
                  <a:schemeClr val="tx2"/>
                </a:solidFill>
              </a:rPr>
              <a:t> entre </a:t>
            </a:r>
            <a:r>
              <a:rPr lang="en-US" sz="1400" b="1" dirty="0" err="1">
                <a:solidFill>
                  <a:schemeClr val="tx2"/>
                </a:solidFill>
              </a:rPr>
              <a:t>tablas</a:t>
            </a:r>
            <a:r>
              <a:rPr lang="en-US" sz="1400" b="1" dirty="0">
                <a:solidFill>
                  <a:schemeClr val="tx2"/>
                </a:solidFill>
              </a:rPr>
              <a:t> y </a:t>
            </a:r>
            <a:r>
              <a:rPr lang="en-US" sz="1400" b="1" dirty="0" err="1">
                <a:solidFill>
                  <a:schemeClr val="tx2"/>
                </a:solidFill>
              </a:rPr>
              <a:t>cuadre</a:t>
            </a:r>
            <a:r>
              <a:rPr lang="en-US" sz="1400" b="1" dirty="0">
                <a:solidFill>
                  <a:schemeClr val="tx2"/>
                </a:solidFill>
              </a:rPr>
              <a:t> de </a:t>
            </a:r>
            <a:r>
              <a:rPr lang="en-US" sz="1400" b="1" dirty="0" err="1">
                <a:solidFill>
                  <a:schemeClr val="tx2"/>
                </a:solidFill>
              </a:rPr>
              <a:t>los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totales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expandidos</a:t>
            </a:r>
            <a:r>
              <a:rPr lang="en-US" sz="1400" b="1" dirty="0">
                <a:solidFill>
                  <a:schemeClr val="tx2"/>
                </a:solidFill>
              </a:rPr>
              <a:t> con </a:t>
            </a:r>
            <a:r>
              <a:rPr lang="en-US" sz="1400" b="1" dirty="0" err="1">
                <a:solidFill>
                  <a:schemeClr val="tx2"/>
                </a:solidFill>
              </a:rPr>
              <a:t>los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tabulados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oficiales</a:t>
            </a:r>
            <a:r>
              <a:rPr lang="en-US" sz="1400" b="1" dirty="0">
                <a:solidFill>
                  <a:schemeClr val="tx2"/>
                </a:solidFill>
              </a:rPr>
              <a:t>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vrule23"/>
          <p:cNvSpPr/>
          <p:nvPr/>
        </p:nvSpPr>
        <p:spPr>
          <a:xfrm>
            <a:off x="6095848" y="1097280"/>
            <a:ext cx="0" cy="50292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 · METODOLOGÍA (3/3) · REGLAS DE ASOCIACIÓN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Cada etiqueta cumple una función en la regla de cada tipo de atención. El rezago habitacional o la necesidad de vivienda es requisito común, salvo en unidades habitacionales, donde el criterio son las áreas comunes.</a:t>
            </a:r>
            <a:endParaRPr lang="en-US" sz="1300" dirty="0"/>
          </a:p>
        </p:txBody>
      </p:sp>
      <p:sp>
        <p:nvSpPr>
          <p:cNvPr id="4" name="box24"/>
          <p:cNvSpPr/>
          <p:nvPr/>
        </p:nvSpPr>
        <p:spPr>
          <a:xfrm>
            <a:off x="548640" y="1828800"/>
            <a:ext cx="1816547" cy="960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7510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3"/>
                </a:solidFill>
              </a:rPr>
              <a:t>REQUISITO COMÚN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942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Rezago habitacional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2365187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</a:t>
            </a:r>
            <a:endParaRPr lang="en-US" sz="1500" dirty="0"/>
          </a:p>
        </p:txBody>
      </p:sp>
      <p:sp>
        <p:nvSpPr>
          <p:cNvPr id="8" name="box25"/>
          <p:cNvSpPr/>
          <p:nvPr/>
        </p:nvSpPr>
        <p:spPr>
          <a:xfrm>
            <a:off x="2868107" y="1828800"/>
            <a:ext cx="181654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50987" y="197510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2"/>
                </a:solidFill>
              </a:rPr>
              <a:t>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050987" y="224942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Necesidad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84654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</a:t>
            </a:r>
            <a:endParaRPr lang="en-US" sz="1500" dirty="0"/>
          </a:p>
        </p:txBody>
      </p:sp>
      <p:sp>
        <p:nvSpPr>
          <p:cNvPr id="12" name="box26"/>
          <p:cNvSpPr/>
          <p:nvPr/>
        </p:nvSpPr>
        <p:spPr>
          <a:xfrm>
            <a:off x="5187574" y="1828800"/>
            <a:ext cx="181654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70454" y="197510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2"/>
                </a:solidFill>
              </a:rPr>
              <a:t>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370454" y="224942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Elegibilidad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004121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sin</a:t>
            </a:r>
            <a:endParaRPr lang="en-US" sz="1500" dirty="0"/>
          </a:p>
        </p:txBody>
      </p:sp>
      <p:sp>
        <p:nvSpPr>
          <p:cNvPr id="16" name="box27"/>
          <p:cNvSpPr/>
          <p:nvPr/>
        </p:nvSpPr>
        <p:spPr>
          <a:xfrm>
            <a:off x="7507041" y="1828800"/>
            <a:ext cx="181654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9921" y="197510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2"/>
                </a:solidFill>
              </a:rPr>
              <a:t>X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689921" y="224942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Exclusión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23588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=</a:t>
            </a:r>
            <a:endParaRPr lang="en-US" sz="1500" dirty="0"/>
          </a:p>
        </p:txBody>
      </p:sp>
      <p:sp>
        <p:nvSpPr>
          <p:cNvPr id="20" name="box28"/>
          <p:cNvSpPr/>
          <p:nvPr/>
        </p:nvSpPr>
        <p:spPr>
          <a:xfrm>
            <a:off x="9826508" y="1828800"/>
            <a:ext cx="1816547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09388" y="197510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6"/>
                </a:solidFill>
              </a:rPr>
              <a:t>RESULTADO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009388" y="224942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Población potencial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826508" y="2770632"/>
            <a:ext cx="18165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box29"/>
          <p:cNvSpPr/>
          <p:nvPr/>
        </p:nvSpPr>
        <p:spPr>
          <a:xfrm>
            <a:off x="2868107" y="3017520"/>
            <a:ext cx="6455481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box30"/>
          <p:cNvSpPr/>
          <p:nvPr/>
        </p:nvSpPr>
        <p:spPr>
          <a:xfrm>
            <a:off x="548640" y="3017520"/>
            <a:ext cx="1816547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16382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6"/>
                </a:solidFill>
              </a:rPr>
              <a:t>RESULTADO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43814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Población potencial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2365187" y="30175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50987" y="3163824"/>
            <a:ext cx="60897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accent2"/>
                </a:solidFill>
              </a:rPr>
              <a:t>CRITERIO DE INGRESO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050987" y="3438144"/>
            <a:ext cx="6089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Ingreso laboral del hogar de hasta 5 UMA mensuales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323588" y="30175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5"/>
                </a:solidFill>
              </a:rPr>
              <a:t>=</a:t>
            </a:r>
            <a:endParaRPr lang="en-US" sz="1500" dirty="0"/>
          </a:p>
        </p:txBody>
      </p:sp>
      <p:sp>
        <p:nvSpPr>
          <p:cNvPr id="32" name="box31"/>
          <p:cNvSpPr/>
          <p:nvPr/>
        </p:nvSpPr>
        <p:spPr>
          <a:xfrm>
            <a:off x="9826508" y="3017520"/>
            <a:ext cx="1816547" cy="960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09388" y="3163824"/>
            <a:ext cx="1450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chemeClr val="bg1"/>
                </a:solidFill>
              </a:rPr>
              <a:t>RESULTADO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009388" y="3438144"/>
            <a:ext cx="14507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Población objetivo</a:t>
            </a:r>
            <a:endParaRPr lang="en-US" sz="1450" dirty="0"/>
          </a:p>
        </p:txBody>
      </p:sp>
      <p:sp>
        <p:nvSpPr>
          <p:cNvPr id="35" name="rule32"/>
          <p:cNvSpPr/>
          <p:nvPr/>
        </p:nvSpPr>
        <p:spPr>
          <a:xfrm>
            <a:off x="548640" y="4389120"/>
            <a:ext cx="342381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52628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Función de las etiquetas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89204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2"/>
                </a:solidFill>
              </a:rPr>
              <a:t>N </a:t>
            </a:r>
            <a:r>
              <a:rPr lang="en-US" sz="1150" dirty="0">
                <a:solidFill>
                  <a:schemeClr val="tx1"/>
                </a:solidFill>
              </a:rPr>
              <a:t>acredita la necesidad que justifica la atención.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2"/>
                </a:solidFill>
              </a:rPr>
              <a:t>E </a:t>
            </a:r>
            <a:r>
              <a:rPr lang="en-US" sz="1150" dirty="0">
                <a:solidFill>
                  <a:schemeClr val="tx1"/>
                </a:solidFill>
              </a:rPr>
              <a:t>es un requisito de acceso no económico.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2"/>
                </a:solidFill>
              </a:rPr>
              <a:t>X </a:t>
            </a:r>
            <a:r>
              <a:rPr lang="en-US" sz="1150" dirty="0">
                <a:solidFill>
                  <a:schemeClr val="tx1"/>
                </a:solidFill>
              </a:rPr>
              <a:t>impide el acceso al tipo de atención.</a:t>
            </a:r>
            <a:endParaRPr lang="en-US" sz="1150" dirty="0"/>
          </a:p>
        </p:txBody>
      </p:sp>
      <p:sp>
        <p:nvSpPr>
          <p:cNvPr id="38" name="rule33"/>
          <p:cNvSpPr/>
          <p:nvPr/>
        </p:nvSpPr>
        <p:spPr>
          <a:xfrm>
            <a:off x="4383938" y="4389120"/>
            <a:ext cx="342381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83938" y="452628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Conteo de hogares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4383938" y="489204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Los tipos no son excluyentes: un hogar puede calificar en varios.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Los totales son la unión de los tipos; cada hogar se cuenta una vez.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Los totales se expanden con el factor del diseño muestral.</a:t>
            </a:r>
            <a:endParaRPr lang="en-US" sz="1150" dirty="0"/>
          </a:p>
        </p:txBody>
      </p:sp>
      <p:sp>
        <p:nvSpPr>
          <p:cNvPr id="41" name="rule34"/>
          <p:cNvSpPr/>
          <p:nvPr/>
        </p:nvSpPr>
        <p:spPr>
          <a:xfrm>
            <a:off x="8219237" y="4389120"/>
            <a:ext cx="342381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19237" y="452628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Precisión y sensibilidad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219237" y="489204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Coeficiente de variación con estrato y UPM de diseño (criterio INEGI).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Posesión amplia frente a posesión documentada.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Ingreso observado frente a ingreso imputado; requisitos de una sola rama como filtros.</a:t>
            </a:r>
            <a:endParaRPr lang="en-US" sz="11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05 · CRITERIOS DE IDENTIFICACIÓN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Dimensiones de evaluación del tipo de atención por hogar</a:t>
            </a:r>
            <a:endParaRPr lang="en-US" sz="2600" dirty="0"/>
          </a:p>
        </p:txBody>
      </p:sp>
      <p:sp>
        <p:nvSpPr>
          <p:cNvPr id="4" name="dimIcon0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Habitabil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258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Habitabilidad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Materiales, espacio, servicios básicos, daño estructural y mejoras declaradas.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Acredita el rezago y la necesidad de lote propio, mejoramiento, ampliación y unidades habitacionales.</a:t>
            </a:r>
            <a:endParaRPr lang="en-US" sz="1100" dirty="0"/>
          </a:p>
        </p:txBody>
      </p:sp>
      <p:sp>
        <p:nvSpPr>
          <p:cNvPr id="8" name="dimIcon1"/>
          <p:cNvSpPr/>
          <p:nvPr/>
        </p:nvSpPr>
        <p:spPr>
          <a:xfrm>
            <a:off x="3362858" y="13258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Necesidad de vivien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18" y="14630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48658" y="13258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Necesidad de vivienda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3362858" y="20116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Hogares que comparten vivienda o no la poseen, y demanda declarada de rentar, comprar o construir.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Acredita la necesidad de vivienda nueva, adquisición y lote propio.</a:t>
            </a:r>
            <a:endParaRPr lang="en-US" sz="1100" dirty="0"/>
          </a:p>
        </p:txBody>
      </p:sp>
      <p:sp>
        <p:nvSpPr>
          <p:cNvPr id="12" name="vrule35"/>
          <p:cNvSpPr/>
          <p:nvPr/>
        </p:nvSpPr>
        <p:spPr>
          <a:xfrm>
            <a:off x="3134258" y="1325880"/>
            <a:ext cx="0" cy="22860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3" name="dimIcon2"/>
          <p:cNvSpPr/>
          <p:nvPr/>
        </p:nvSpPr>
        <p:spPr>
          <a:xfrm>
            <a:off x="5948477" y="13258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Tenenc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637" y="14630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4277" y="13258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Tenencia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5948477" y="20116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Régimen de tenencia, escrituras y propiedad de otras viviendas.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Define la posesión, excluye a quien ya tiene otra vivienda y acredita la regularización.</a:t>
            </a:r>
            <a:endParaRPr lang="en-US" sz="1100" dirty="0"/>
          </a:p>
        </p:txBody>
      </p:sp>
      <p:sp>
        <p:nvSpPr>
          <p:cNvPr id="17" name="vrule36"/>
          <p:cNvSpPr/>
          <p:nvPr/>
        </p:nvSpPr>
        <p:spPr>
          <a:xfrm>
            <a:off x="5719877" y="1325880"/>
            <a:ext cx="0" cy="22860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8" name="dimIcon3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3" descr="Capacidad económic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764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38404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Capacidad económica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5262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Ingreso laboral del hogar, derecho a crédito de vivienda y financiamiento previsto.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Delimita la población objetivo y la elegibilidad para adquisición con crédito.</a:t>
            </a:r>
            <a:endParaRPr lang="en-US" sz="1100" dirty="0"/>
          </a:p>
        </p:txBody>
      </p:sp>
      <p:sp>
        <p:nvSpPr>
          <p:cNvPr id="22" name="dimIcon4"/>
          <p:cNvSpPr/>
          <p:nvPr/>
        </p:nvSpPr>
        <p:spPr>
          <a:xfrm>
            <a:off x="3362858" y="38404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4" descr="Grupos prioritario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018" y="397764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048658" y="38404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Grupos prioritarios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3362858" y="45262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Jefatura femenina o joven, adultos mayores, población indígena y discapacidad.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Ordena la prioridad de atención; no excluye hogares.</a:t>
            </a:r>
            <a:endParaRPr lang="en-US" sz="1100" dirty="0"/>
          </a:p>
        </p:txBody>
      </p:sp>
      <p:sp>
        <p:nvSpPr>
          <p:cNvPr id="26" name="vrule37"/>
          <p:cNvSpPr/>
          <p:nvPr/>
        </p:nvSpPr>
        <p:spPr>
          <a:xfrm>
            <a:off x="3134258" y="3840480"/>
            <a:ext cx="0" cy="22860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7" name="dimIcon5"/>
          <p:cNvSpPr/>
          <p:nvPr/>
        </p:nvSpPr>
        <p:spPr>
          <a:xfrm>
            <a:off x="5948477" y="38404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5" descr="Territori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5637" y="397764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34277" y="3840480"/>
            <a:ext cx="1488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Territorio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5948477" y="4526280"/>
            <a:ext cx="2174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accent5"/>
                </a:solidFill>
              </a:rPr>
              <a:t>EVALÚA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Entidad federativa, tamaño de localidad y vivienda multifamiliar.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00" b="1" kern="0" spc="100" dirty="0">
                <a:solidFill>
                  <a:schemeClr val="accent2"/>
                </a:solidFill>
              </a:rPr>
              <a:t>FUNCIÓN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Desagrega la estimación y acredita la necesidad en unidades habitacionales.</a:t>
            </a:r>
            <a:endParaRPr lang="en-US" sz="1100" dirty="0"/>
          </a:p>
        </p:txBody>
      </p:sp>
      <p:sp>
        <p:nvSpPr>
          <p:cNvPr id="31" name="vrule38"/>
          <p:cNvSpPr/>
          <p:nvPr/>
        </p:nvSpPr>
        <p:spPr>
          <a:xfrm>
            <a:off x="5719877" y="3840480"/>
            <a:ext cx="0" cy="22860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32" name="rule39"/>
          <p:cNvSpPr/>
          <p:nvPr/>
        </p:nvSpPr>
        <p:spPr>
          <a:xfrm>
            <a:off x="548640" y="3703320"/>
            <a:ext cx="7573975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33" name="box40"/>
          <p:cNvSpPr/>
          <p:nvPr/>
        </p:nvSpPr>
        <p:spPr>
          <a:xfrm>
            <a:off x="8671255" y="1325880"/>
            <a:ext cx="297180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872423" y="149047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</a:rPr>
              <a:t>Tipos de atención del Programa de Vivienda para el Bienestar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8872423" y="2075688"/>
            <a:ext cx="25694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C1  </a:t>
            </a:r>
            <a:r>
              <a:rPr lang="en-US" sz="1000" b="1" dirty="0">
                <a:solidFill>
                  <a:schemeClr val="bg1"/>
                </a:solidFill>
              </a:rPr>
              <a:t>Vivienda nueva en conjunto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Adquirir vivienda nueva en un conjunto.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C2  </a:t>
            </a:r>
            <a:r>
              <a:rPr lang="en-US" sz="1000" b="1" dirty="0">
                <a:solidFill>
                  <a:schemeClr val="bg1"/>
                </a:solidFill>
              </a:rPr>
              <a:t>Adquisición con crédito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Comprar vivienda nueva o usada con crédito.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C3  </a:t>
            </a:r>
            <a:r>
              <a:rPr lang="en-US" sz="1000" b="1" dirty="0">
                <a:solidFill>
                  <a:schemeClr val="bg1"/>
                </a:solidFill>
              </a:rPr>
              <a:t>Vivienda en lote propio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Construir vivienda nueva en terreno propio.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C4a  </a:t>
            </a:r>
            <a:r>
              <a:rPr lang="en-US" sz="1000" b="1" dirty="0">
                <a:solidFill>
                  <a:schemeClr val="bg1"/>
                </a:solidFill>
              </a:rPr>
              <a:t>Mejoramiento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Reparar pisos, techos e instalaciones.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C4b  </a:t>
            </a:r>
            <a:r>
              <a:rPr lang="en-US" sz="1000" b="1" dirty="0">
                <a:solidFill>
                  <a:schemeClr val="bg1"/>
                </a:solidFill>
              </a:rPr>
              <a:t>Ampliación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Agregar dormitorio, baño o cocina.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C4c  </a:t>
            </a:r>
            <a:r>
              <a:rPr lang="en-US" sz="1000" b="1" dirty="0">
                <a:solidFill>
                  <a:schemeClr val="bg1"/>
                </a:solidFill>
              </a:rPr>
              <a:t>Accesibilidad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Adaptar la vivienda a la discapacidad.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C7  </a:t>
            </a:r>
            <a:r>
              <a:rPr lang="en-US" sz="1000" b="1" dirty="0">
                <a:solidFill>
                  <a:schemeClr val="bg1"/>
                </a:solidFill>
              </a:rPr>
              <a:t>Unidades habitacionales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Mantener áreas comunes de conjuntos.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C8  </a:t>
            </a:r>
            <a:r>
              <a:rPr lang="en-US" sz="1000" b="1" dirty="0">
                <a:solidFill>
                  <a:schemeClr val="bg1"/>
                </a:solidFill>
              </a:rPr>
              <a:t>Regularización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Escriturar y dar certeza jurídica.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8671255" y="5367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tx2"/>
                </a:solidFill>
              </a:rPr>
              <a:t>Nota técnica. </a:t>
            </a:r>
            <a:r>
              <a:rPr lang="en-US" sz="900" dirty="0">
                <a:solidFill>
                  <a:schemeClr val="accent5"/>
                </a:solidFill>
              </a:rPr>
              <a:t>Reubicación (C5) y reconstrucción (C6) no se estiman: la ENVI 2020 no capta exposición a riesgo no mitigable ni afectación por fenómenos perturbadores. Su dimensionamiento requiere atlas de riesgos y declaratorias de desastre.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06 · RESULTADOS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Uno de cada cuatro hogares es población potencial del programa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RESULTADOS GENERALES</a:t>
            </a:r>
            <a:endParaRPr lang="en-US" sz="1000" dirty="0"/>
          </a:p>
        </p:txBody>
      </p:sp>
      <p:sp>
        <p:nvSpPr>
          <p:cNvPr id="5" name="rule41"/>
          <p:cNvSpPr/>
          <p:nvPr/>
        </p:nvSpPr>
        <p:spPr>
          <a:xfrm>
            <a:off x="548640" y="1755648"/>
            <a:ext cx="2926080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65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24.1%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042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 las viviendas presenta rezago habitacional observable (CONAVI: 25.2%).</a:t>
            </a:r>
            <a:endParaRPr lang="en-US" sz="1150" dirty="0"/>
          </a:p>
        </p:txBody>
      </p:sp>
      <p:sp>
        <p:nvSpPr>
          <p:cNvPr id="8" name="rule42"/>
          <p:cNvSpPr/>
          <p:nvPr/>
        </p:nvSpPr>
        <p:spPr>
          <a:xfrm>
            <a:off x="548640" y="2871216"/>
            <a:ext cx="2926080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8094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21.1%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198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 los hogares, 7.63 millones, declara necesitar vivienda.</a:t>
            </a:r>
            <a:endParaRPr lang="en-US" sz="1150" dirty="0"/>
          </a:p>
        </p:txBody>
      </p:sp>
      <p:sp>
        <p:nvSpPr>
          <p:cNvPr id="11" name="rule43"/>
          <p:cNvSpPr/>
          <p:nvPr/>
        </p:nvSpPr>
        <p:spPr>
          <a:xfrm>
            <a:off x="548640" y="3986784"/>
            <a:ext cx="2926080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965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9.47 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354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 hogares son población potencial: 26.2% del total.</a:t>
            </a:r>
            <a:endParaRPr lang="en-US" sz="1150" dirty="0"/>
          </a:p>
        </p:txBody>
      </p:sp>
      <p:sp>
        <p:nvSpPr>
          <p:cNvPr id="14" name="rule44"/>
          <p:cNvSpPr/>
          <p:nvPr/>
        </p:nvSpPr>
        <p:spPr>
          <a:xfrm>
            <a:off x="548640" y="5102352"/>
            <a:ext cx="2926080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8.22 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509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son población objetivo: 22.7% del total y 86.7% del potencial.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353312"/>
            <a:ext cx="7665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 err="1">
                <a:solidFill>
                  <a:schemeClr val="tx2"/>
                </a:solidFill>
              </a:rPr>
              <a:t>Tabla</a:t>
            </a:r>
            <a:r>
              <a:rPr lang="en-US" sz="1300" b="1" dirty="0">
                <a:solidFill>
                  <a:schemeClr val="tx2"/>
                </a:solidFill>
              </a:rPr>
              <a:t>. </a:t>
            </a:r>
            <a:r>
              <a:rPr lang="en-US" sz="1300" b="1" dirty="0" err="1">
                <a:solidFill>
                  <a:schemeClr val="tx2"/>
                </a:solidFill>
              </a:rPr>
              <a:t>Hogares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en-US" sz="1300" b="1" dirty="0" err="1">
                <a:solidFill>
                  <a:schemeClr val="tx2"/>
                </a:solidFill>
              </a:rPr>
              <a:t>potenciales</a:t>
            </a:r>
            <a:r>
              <a:rPr lang="en-US" sz="1300" b="1" dirty="0">
                <a:solidFill>
                  <a:schemeClr val="tx2"/>
                </a:solidFill>
              </a:rPr>
              <a:t> y </a:t>
            </a:r>
            <a:r>
              <a:rPr lang="en-US" sz="1300" b="1" dirty="0" err="1">
                <a:solidFill>
                  <a:schemeClr val="tx2"/>
                </a:solidFill>
              </a:rPr>
              <a:t>objetivo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en-US" sz="1300" b="1" dirty="0" err="1">
                <a:solidFill>
                  <a:schemeClr val="tx2"/>
                </a:solidFill>
              </a:rPr>
              <a:t>por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en-US" sz="1300" b="1" dirty="0" err="1">
                <a:solidFill>
                  <a:schemeClr val="tx2"/>
                </a:solidFill>
              </a:rPr>
              <a:t>tipo</a:t>
            </a:r>
            <a:r>
              <a:rPr lang="en-US" sz="1300" b="1" dirty="0">
                <a:solidFill>
                  <a:schemeClr val="tx2"/>
                </a:solidFill>
              </a:rPr>
              <a:t> de </a:t>
            </a:r>
            <a:r>
              <a:rPr lang="en-US" sz="1300" b="1" dirty="0" err="1">
                <a:solidFill>
                  <a:schemeClr val="tx2"/>
                </a:solidFill>
              </a:rPr>
              <a:t>atención</a:t>
            </a:r>
            <a:endParaRPr lang="en-US" sz="1300" dirty="0" err="1">
              <a:solidFill>
                <a:schemeClr val="tx2"/>
              </a:solidFill>
              <a:ea typeface="Noto Sans"/>
              <a:cs typeface="Noto San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977640" y="1773936"/>
            <a:ext cx="164592" cy="1645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15384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Población objetivo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773936"/>
            <a:ext cx="164592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89904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Resto del potencial (ingreso mayor a 5 UMA)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2011680"/>
            <a:ext cx="7665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Sobre cada barra, % del total de hogares: </a:t>
            </a:r>
            <a:r>
              <a:rPr lang="en-US" sz="1000" b="1" dirty="0">
                <a:solidFill>
                  <a:schemeClr val="accent1"/>
                </a:solidFill>
              </a:rPr>
              <a:t>potencial</a:t>
            </a:r>
            <a:r>
              <a:rPr lang="en-US" sz="1000" dirty="0">
                <a:solidFill>
                  <a:schemeClr val="accent5"/>
                </a:solidFill>
              </a:rPr>
              <a:t> / </a:t>
            </a:r>
            <a:r>
              <a:rPr lang="en-US" sz="1000" b="1" dirty="0">
                <a:solidFill>
                  <a:schemeClr val="accent2"/>
                </a:solidFill>
              </a:rPr>
              <a:t>objetivo</a:t>
            </a:r>
            <a:endParaRPr lang="en-US" sz="1000" dirty="0"/>
          </a:p>
        </p:txBody>
      </p:sp>
      <p:sp>
        <p:nvSpPr>
          <p:cNvPr id="23" name="rule45"/>
          <p:cNvSpPr/>
          <p:nvPr/>
        </p:nvSpPr>
        <p:spPr>
          <a:xfrm>
            <a:off x="4389120" y="5120640"/>
            <a:ext cx="7253935" cy="0"/>
          </a:xfrm>
          <a:prstGeom prst="line">
            <a:avLst/>
          </a:prstGeom>
          <a:noFill/>
          <a:ln w="12700">
            <a:solidFill>
              <a:srgbClr val="6672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50109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rule46"/>
          <p:cNvSpPr/>
          <p:nvPr/>
        </p:nvSpPr>
        <p:spPr>
          <a:xfrm>
            <a:off x="4389120" y="4428309"/>
            <a:ext cx="7253935" cy="0"/>
          </a:xfrm>
          <a:prstGeom prst="line">
            <a:avLst/>
          </a:prstGeom>
          <a:noFill/>
          <a:ln w="6350">
            <a:solidFill>
              <a:srgbClr val="D5DD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4318581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2 M</a:t>
            </a:r>
            <a:endParaRPr lang="en-US" sz="900" dirty="0"/>
          </a:p>
        </p:txBody>
      </p:sp>
      <p:sp>
        <p:nvSpPr>
          <p:cNvPr id="27" name="rule47"/>
          <p:cNvSpPr/>
          <p:nvPr/>
        </p:nvSpPr>
        <p:spPr>
          <a:xfrm>
            <a:off x="4389120" y="3735977"/>
            <a:ext cx="7253935" cy="0"/>
          </a:xfrm>
          <a:prstGeom prst="line">
            <a:avLst/>
          </a:prstGeom>
          <a:noFill/>
          <a:ln w="6350">
            <a:solidFill>
              <a:srgbClr val="D5DD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77640" y="3626249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4 M</a:t>
            </a:r>
            <a:endParaRPr lang="en-US" sz="900" dirty="0"/>
          </a:p>
        </p:txBody>
      </p:sp>
      <p:sp>
        <p:nvSpPr>
          <p:cNvPr id="29" name="rule48"/>
          <p:cNvSpPr/>
          <p:nvPr/>
        </p:nvSpPr>
        <p:spPr>
          <a:xfrm>
            <a:off x="4389120" y="3043646"/>
            <a:ext cx="7253935" cy="0"/>
          </a:xfrm>
          <a:prstGeom prst="line">
            <a:avLst/>
          </a:prstGeom>
          <a:noFill/>
          <a:ln w="6350">
            <a:solidFill>
              <a:srgbClr val="D5DD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93391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6 M</a:t>
            </a:r>
            <a:endParaRPr lang="en-US" sz="900" dirty="0"/>
          </a:p>
        </p:txBody>
      </p:sp>
      <p:sp>
        <p:nvSpPr>
          <p:cNvPr id="31" name="barObj_C4a"/>
          <p:cNvSpPr/>
          <p:nvPr/>
        </p:nvSpPr>
        <p:spPr>
          <a:xfrm>
            <a:off x="4604747" y="3292885"/>
            <a:ext cx="475488" cy="1827755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2" name="barPot_C4a"/>
          <p:cNvSpPr/>
          <p:nvPr/>
        </p:nvSpPr>
        <p:spPr>
          <a:xfrm>
            <a:off x="4604747" y="3022876"/>
            <a:ext cx="475488" cy="270009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89120" y="2565676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16.7%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14.6%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C4a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Mejoramiento</a:t>
            </a:r>
            <a:endParaRPr lang="en-US" sz="900" dirty="0"/>
          </a:p>
        </p:txBody>
      </p:sp>
      <p:sp>
        <p:nvSpPr>
          <p:cNvPr id="35" name="barObj_C4b"/>
          <p:cNvSpPr/>
          <p:nvPr/>
        </p:nvSpPr>
        <p:spPr>
          <a:xfrm>
            <a:off x="5511489" y="3445198"/>
            <a:ext cx="475488" cy="167544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6" name="barPot_C4b"/>
          <p:cNvSpPr/>
          <p:nvPr/>
        </p:nvSpPr>
        <p:spPr>
          <a:xfrm>
            <a:off x="5511489" y="3223652"/>
            <a:ext cx="475488" cy="2215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295862" y="2766452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15.1%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13.4%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295862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C4b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Ampliación</a:t>
            </a:r>
            <a:endParaRPr lang="en-US" sz="900" dirty="0"/>
          </a:p>
        </p:txBody>
      </p:sp>
      <p:sp>
        <p:nvSpPr>
          <p:cNvPr id="39" name="barObj_C1"/>
          <p:cNvSpPr/>
          <p:nvPr/>
        </p:nvSpPr>
        <p:spPr>
          <a:xfrm>
            <a:off x="6418231" y="3867520"/>
            <a:ext cx="475488" cy="1253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0" name="barPot_C1"/>
          <p:cNvSpPr/>
          <p:nvPr/>
        </p:nvSpPr>
        <p:spPr>
          <a:xfrm>
            <a:off x="6418231" y="3639051"/>
            <a:ext cx="475488" cy="228469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02604" y="3181851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11.8%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10.0%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02604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Vivienda nueva en conjunto</a:t>
            </a:r>
            <a:endParaRPr lang="en-US" sz="900" dirty="0"/>
          </a:p>
        </p:txBody>
      </p:sp>
      <p:sp>
        <p:nvSpPr>
          <p:cNvPr id="43" name="barObj_C8"/>
          <p:cNvSpPr/>
          <p:nvPr/>
        </p:nvSpPr>
        <p:spPr>
          <a:xfrm>
            <a:off x="7324973" y="4130606"/>
            <a:ext cx="475488" cy="99003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4" name="barPot_C8"/>
          <p:cNvSpPr/>
          <p:nvPr/>
        </p:nvSpPr>
        <p:spPr>
          <a:xfrm>
            <a:off x="7324973" y="4009448"/>
            <a:ext cx="475488" cy="12115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09346" y="3552248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8.9%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7.9%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109346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Regularización</a:t>
            </a:r>
            <a:endParaRPr lang="en-US" sz="900" dirty="0"/>
          </a:p>
        </p:txBody>
      </p:sp>
      <p:sp>
        <p:nvSpPr>
          <p:cNvPr id="47" name="barObj_C3"/>
          <p:cNvSpPr/>
          <p:nvPr/>
        </p:nvSpPr>
        <p:spPr>
          <a:xfrm>
            <a:off x="8231715" y="4542543"/>
            <a:ext cx="475488" cy="578097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8" name="barPot_C3"/>
          <p:cNvSpPr/>
          <p:nvPr/>
        </p:nvSpPr>
        <p:spPr>
          <a:xfrm>
            <a:off x="8231715" y="4452540"/>
            <a:ext cx="475488" cy="9000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016088" y="3995340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5.3%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4.6%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016088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Vivienda en lote propio</a:t>
            </a:r>
            <a:endParaRPr lang="en-US" sz="900" dirty="0"/>
          </a:p>
        </p:txBody>
      </p:sp>
      <p:sp>
        <p:nvSpPr>
          <p:cNvPr id="51" name="barObj_C4c"/>
          <p:cNvSpPr/>
          <p:nvPr/>
        </p:nvSpPr>
        <p:spPr>
          <a:xfrm>
            <a:off x="9138456" y="4656778"/>
            <a:ext cx="475488" cy="46386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2" name="barPot_C4c"/>
          <p:cNvSpPr/>
          <p:nvPr/>
        </p:nvSpPr>
        <p:spPr>
          <a:xfrm>
            <a:off x="9138456" y="4597930"/>
            <a:ext cx="475488" cy="5884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922830" y="4140730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4.2%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3.7%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922830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C4c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Accesibilidad</a:t>
            </a:r>
            <a:endParaRPr lang="en-US" sz="900" dirty="0"/>
          </a:p>
        </p:txBody>
      </p:sp>
      <p:sp>
        <p:nvSpPr>
          <p:cNvPr id="55" name="barObj_C2"/>
          <p:cNvSpPr/>
          <p:nvPr/>
        </p:nvSpPr>
        <p:spPr>
          <a:xfrm>
            <a:off x="10045198" y="5054869"/>
            <a:ext cx="475488" cy="65771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6" name="barPot_C2"/>
          <p:cNvSpPr/>
          <p:nvPr/>
        </p:nvSpPr>
        <p:spPr>
          <a:xfrm>
            <a:off x="10045198" y="5016790"/>
            <a:ext cx="475488" cy="3807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829571" y="4559590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0.8%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0.5%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9829571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Adquisición con crédito</a:t>
            </a:r>
            <a:endParaRPr lang="en-US" sz="900" dirty="0"/>
          </a:p>
        </p:txBody>
      </p:sp>
      <p:sp>
        <p:nvSpPr>
          <p:cNvPr id="59" name="barObj_C7"/>
          <p:cNvSpPr/>
          <p:nvPr/>
        </p:nvSpPr>
        <p:spPr>
          <a:xfrm>
            <a:off x="10951940" y="5079100"/>
            <a:ext cx="475488" cy="415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0" name="barPot_C7"/>
          <p:cNvSpPr/>
          <p:nvPr/>
        </p:nvSpPr>
        <p:spPr>
          <a:xfrm>
            <a:off x="10951940" y="5061792"/>
            <a:ext cx="475488" cy="173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736313" y="4604592"/>
            <a:ext cx="906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</a:rPr>
              <a:t>0.5%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chemeClr val="accent2"/>
                </a:solidFill>
              </a:rPr>
              <a:t>0.3%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0736313" y="5193792"/>
            <a:ext cx="906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</a:rPr>
              <a:t>C7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</a:rPr>
              <a:t>Unidades habitacionales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10819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Fuente: elaboración propia con microdatos de la ENVI 2020 (INEGI), expandidos con el factor de hogar. Objetivo con ingreso imputado (PMM). Los tipos no son excluyentes.</a:t>
            </a:r>
            <a:endParaRPr lang="en-US" sz="9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07 · ANÁLISIS TERRITORIAL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La necesidad varía de forma marcada entre entidades</a:t>
            </a:r>
            <a:endParaRPr lang="en-US" sz="2600" dirty="0"/>
          </a:p>
        </p:txBody>
      </p:sp>
      <p:sp>
        <p:nvSpPr>
          <p:cNvPr id="4" name="box49"/>
          <p:cNvSpPr/>
          <p:nvPr/>
        </p:nvSpPr>
        <p:spPr>
          <a:xfrm>
            <a:off x="548640" y="1315720"/>
            <a:ext cx="8620760" cy="4856480"/>
          </a:xfrm>
          <a:prstGeom prst="rect">
            <a:avLst/>
          </a:prstGeom>
          <a:solidFill>
            <a:schemeClr val="bg2"/>
          </a:solidFill>
          <a:ln w="12700">
            <a:solidFill>
              <a:srgbClr val="A9BAC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382760" y="1493520"/>
            <a:ext cx="2656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MX" sz="2400" b="1">
                <a:ea typeface="+mn-lt"/>
                <a:cs typeface="+mn-lt"/>
              </a:rPr>
              <a:t>5</a:t>
            </a:r>
            <a:r>
              <a:rPr lang="es-MX" sz="1600">
                <a:ea typeface="+mn-lt"/>
                <a:cs typeface="+mn-lt"/>
              </a:rPr>
              <a:t> entidades concentran el </a:t>
            </a:r>
            <a:r>
              <a:rPr lang="es-MX" sz="2000" b="1">
                <a:ea typeface="+mn-lt"/>
                <a:cs typeface="+mn-lt"/>
              </a:rPr>
              <a:t>44.6 %</a:t>
            </a:r>
            <a:r>
              <a:rPr lang="es-MX" sz="1600">
                <a:ea typeface="+mn-lt"/>
                <a:cs typeface="+mn-lt"/>
              </a:rPr>
              <a:t> del potencial nacional; solo </a:t>
            </a:r>
            <a:r>
              <a:rPr lang="es-MX" b="1">
                <a:ea typeface="+mn-lt"/>
                <a:cs typeface="+mn-lt"/>
              </a:rPr>
              <a:t>11 de 32</a:t>
            </a:r>
            <a:r>
              <a:rPr lang="es-MX" sz="1600">
                <a:ea typeface="+mn-lt"/>
                <a:cs typeface="+mn-lt"/>
              </a:rPr>
              <a:t> superan la tasa nacional de </a:t>
            </a:r>
            <a:r>
              <a:rPr lang="es-MX" b="1">
                <a:ea typeface="+mn-lt"/>
                <a:cs typeface="+mn-lt"/>
              </a:rPr>
              <a:t>26.2 %.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7B5E3D-1A89-79DB-AADD-DD9BAEC56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0640"/>
            <a:ext cx="8371840" cy="5232400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757DC4A9-310F-8796-E374-9A8788408D52}"/>
              </a:ext>
            </a:extLst>
          </p:cNvPr>
          <p:cNvSpPr txBox="1"/>
          <p:nvPr/>
        </p:nvSpPr>
        <p:spPr>
          <a:xfrm>
            <a:off x="9372599" y="3210560"/>
            <a:ext cx="2666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ea typeface="+mn-lt"/>
                <a:cs typeface="+mn-lt"/>
              </a:rPr>
              <a:t>Chiapas </a:t>
            </a:r>
            <a:r>
              <a:rPr lang="en-US" sz="1400" b="1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70.5 %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hogares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potenciales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frente</a:t>
            </a:r>
            <a:r>
              <a:rPr lang="en-US" sz="1400" dirty="0">
                <a:ea typeface="+mn-lt"/>
                <a:cs typeface="+mn-lt"/>
              </a:rPr>
              <a:t> a </a:t>
            </a:r>
            <a:r>
              <a:rPr lang="en-US" b="1" dirty="0">
                <a:ea typeface="+mn-lt"/>
                <a:cs typeface="+mn-lt"/>
              </a:rPr>
              <a:t>6.0 %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Aguascalientes; </a:t>
            </a:r>
            <a:r>
              <a:rPr lang="en-US" sz="1400" dirty="0" err="1">
                <a:ea typeface="+mn-lt"/>
                <a:cs typeface="+mn-lt"/>
              </a:rPr>
              <a:t>su</a:t>
            </a:r>
            <a:r>
              <a:rPr lang="en-US" sz="1400" dirty="0">
                <a:ea typeface="+mn-lt"/>
                <a:cs typeface="+mn-lt"/>
              </a:rPr>
              <a:t> peso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el </a:t>
            </a:r>
            <a:r>
              <a:rPr lang="en-US" sz="1400" dirty="0" err="1">
                <a:ea typeface="+mn-lt"/>
                <a:cs typeface="+mn-lt"/>
              </a:rPr>
              <a:t>potencial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casi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triplica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b="1" dirty="0">
                <a:ea typeface="+mn-lt"/>
                <a:cs typeface="+mn-lt"/>
              </a:rPr>
              <a:t>2.7 </a:t>
            </a:r>
            <a:r>
              <a:rPr lang="en-US" b="1" dirty="0" err="1">
                <a:ea typeface="+mn-lt"/>
                <a:cs typeface="+mn-lt"/>
              </a:rPr>
              <a:t>veces</a:t>
            </a:r>
            <a:r>
              <a:rPr lang="en-US" sz="1400" dirty="0">
                <a:ea typeface="+mn-lt"/>
                <a:cs typeface="+mn-lt"/>
              </a:rPr>
              <a:t>) </a:t>
            </a:r>
            <a:r>
              <a:rPr lang="en-US" sz="1400" dirty="0" err="1">
                <a:ea typeface="+mn-lt"/>
                <a:cs typeface="+mn-lt"/>
              </a:rPr>
              <a:t>su</a:t>
            </a:r>
            <a:r>
              <a:rPr lang="en-US" sz="1400" dirty="0">
                <a:ea typeface="+mn-lt"/>
                <a:cs typeface="+mn-lt"/>
              </a:rPr>
              <a:t> peso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hogares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72B1AE1-213D-5640-E92B-A263A8D519C5}"/>
              </a:ext>
            </a:extLst>
          </p:cNvPr>
          <p:cNvSpPr txBox="1"/>
          <p:nvPr/>
        </p:nvSpPr>
        <p:spPr>
          <a:xfrm>
            <a:off x="9372599" y="5008880"/>
            <a:ext cx="2666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ea typeface="+mn-lt"/>
                <a:cs typeface="+mn-lt"/>
              </a:rPr>
              <a:t>El </a:t>
            </a:r>
            <a:r>
              <a:rPr lang="en-US" sz="1400" dirty="0" err="1">
                <a:ea typeface="+mn-lt"/>
                <a:cs typeface="+mn-lt"/>
              </a:rPr>
              <a:t>mejoramiento</a:t>
            </a:r>
            <a:r>
              <a:rPr lang="en-US" sz="1400" dirty="0">
                <a:ea typeface="+mn-lt"/>
                <a:cs typeface="+mn-lt"/>
              </a:rPr>
              <a:t> es el principal </a:t>
            </a:r>
            <a:r>
              <a:rPr lang="en-US" sz="1400" dirty="0" err="1">
                <a:ea typeface="+mn-lt"/>
                <a:cs typeface="+mn-lt"/>
              </a:rPr>
              <a:t>tipo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atención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22 de 32 </a:t>
            </a:r>
            <a:r>
              <a:rPr lang="en-US" sz="1600" b="1" dirty="0" err="1">
                <a:ea typeface="+mn-lt"/>
                <a:cs typeface="+mn-lt"/>
              </a:rPr>
              <a:t>entidades</a:t>
            </a:r>
            <a:r>
              <a:rPr lang="en-US" sz="1400" dirty="0">
                <a:ea typeface="+mn-lt"/>
                <a:cs typeface="+mn-lt"/>
              </a:rPr>
              <a:t>: la </a:t>
            </a:r>
            <a:r>
              <a:rPr lang="en-US" sz="1400" dirty="0" err="1">
                <a:ea typeface="+mn-lt"/>
                <a:cs typeface="+mn-lt"/>
              </a:rPr>
              <a:t>necesidad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mejorar</a:t>
            </a:r>
            <a:r>
              <a:rPr lang="en-US" sz="1400" dirty="0">
                <a:ea typeface="+mn-lt"/>
                <a:cs typeface="+mn-lt"/>
              </a:rPr>
              <a:t>, no </a:t>
            </a:r>
            <a:r>
              <a:rPr lang="en-US" sz="1400" dirty="0" err="1">
                <a:ea typeface="+mn-lt"/>
                <a:cs typeface="+mn-lt"/>
              </a:rPr>
              <a:t>construir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>
              <a:ea typeface="Noto Sans"/>
              <a:cs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08 · CONCLUSIONES Y RECOMENDACIONES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Identificar por tipo de carencia, dimensionar por territorio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accent2"/>
                </a:solidFill>
              </a:rPr>
              <a:t>CONCLUSIONES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Magnitud de la necesidad. </a:t>
            </a:r>
            <a:r>
              <a:rPr lang="en-US" sz="1150" dirty="0">
                <a:solidFill>
                  <a:schemeClr val="tx1"/>
                </a:solidFill>
              </a:rPr>
              <a:t>Uno de cada cuatro hogares del país presenta una carencia habitacional que el Programa puede atender: 9.5 millones de hogares, de los cuales 8.2 millones constituyen su población objetivo.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060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Vulnerabilidad acumulada. </a:t>
            </a:r>
            <a:r>
              <a:rPr lang="en-US" sz="1150" dirty="0">
                <a:solidFill>
                  <a:schemeClr val="tx1"/>
                </a:solidFill>
              </a:rPr>
              <a:t>El 87% de la población potencial percibe ingresos laborales de hasta 5 UMA. Carencia de vivienda e insuficiencia de ingreso coinciden en los mismos hogares, lo que limita su acceso a soluciones de mercado y justifica la intervención pública.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5204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Una necesidad que se atiende en sitio. </a:t>
            </a:r>
            <a:r>
              <a:rPr lang="en-US" sz="1150" dirty="0">
                <a:solidFill>
                  <a:schemeClr val="tx1"/>
                </a:solidFill>
              </a:rPr>
              <a:t>La principal demanda no es una vivienda nueva, sino mejorar y ampliar la que se habita: mejoramiento y ampliación superan a la vivienda nueva en conjunto.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348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Tenencia y crédito como barreras. </a:t>
            </a:r>
            <a:r>
              <a:rPr lang="en-US" sz="1150" dirty="0">
                <a:solidFill>
                  <a:schemeClr val="tx1"/>
                </a:solidFill>
              </a:rPr>
              <a:t>La tenencia irregular condiciona el acceso a los apoyos en sitio, y el crédito apenas alcanza a la población vulnerable: la adquisición con crédito llega a 0.5% de los hogares del país.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3492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Brechas territoriales. </a:t>
            </a:r>
            <a:r>
              <a:rPr lang="en-US" sz="1150" dirty="0">
                <a:solidFill>
                  <a:schemeClr val="tx1"/>
                </a:solidFill>
              </a:rPr>
              <a:t>En Chiapas dos de cada tres hogares son población objetivo, frente a cinco de cada cien en Aguascalientes.</a:t>
            </a:r>
            <a:endParaRPr lang="en-US" sz="1150" dirty="0"/>
          </a:p>
        </p:txBody>
      </p:sp>
      <p:sp>
        <p:nvSpPr>
          <p:cNvPr id="15" name="box51"/>
          <p:cNvSpPr/>
          <p:nvPr/>
        </p:nvSpPr>
        <p:spPr>
          <a:xfrm>
            <a:off x="6903720" y="1325880"/>
            <a:ext cx="4739335" cy="4846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155448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accent3"/>
                </a:solidFill>
              </a:rPr>
              <a:t>RECOMENDACIONES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→</a:t>
            </a:r>
            <a:endParaRPr lang="en-US">
              <a:solidFill>
                <a:schemeClr val="accent2"/>
              </a:solidFill>
              <a:ea typeface="Noto Sans"/>
              <a:cs typeface="Noto San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589520" y="193852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Focalizar por tipo de carencia y entidad federativa, utilizando las etiquetas como lista de verificación operativa.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→</a:t>
            </a:r>
            <a:endParaRPr lang="en-US">
              <a:solidFill>
                <a:schemeClr val="accent2"/>
              </a:solidFill>
              <a:ea typeface="Noto Sans"/>
              <a:cs typeface="Noto San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589520" y="280720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Articular la regularización de la tenencia como paso previo al mejoramiento y a la vivienda en lote propio.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→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367588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Fortalecer la vía de subsidio para la población sin acceso a crédito; en la rama INFONAVIT, priorizar derechohabientes con ingreso de hasta 2.6 UMA y sin crédito vigente.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→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54456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Complementar la medición con la ENIGH (ingreso total) y con atlas de riesgo para dimensionar reubicación y reconstrucción.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→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541324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Aplicar los grupos prioritarios como criterio de prelación y publicar las cifras con su coeficiente de variación.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09 · LIMITACIONES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Límites de la información y del ejercicio</a:t>
            </a:r>
            <a:endParaRPr lang="en-US" sz="2600" dirty="0"/>
          </a:p>
        </p:txBody>
      </p:sp>
      <p:sp>
        <p:nvSpPr>
          <p:cNvPr id="4" name="rule52"/>
          <p:cNvSpPr/>
          <p:nvPr/>
        </p:nvSpPr>
        <p:spPr>
          <a:xfrm>
            <a:off x="548640" y="1417320"/>
            <a:ext cx="527288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0020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Ingreso parcial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8424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 ENVI capta solo el ingreso por trabajo, sin transferencias, rentas ni remesas: la población objetivo tiende a sobrestimarse.</a:t>
            </a:r>
            <a:endParaRPr lang="en-US" sz="1200" dirty="0"/>
          </a:p>
        </p:txBody>
      </p:sp>
      <p:sp>
        <p:nvSpPr>
          <p:cNvPr id="8" name="rule53"/>
          <p:cNvSpPr/>
          <p:nvPr/>
        </p:nvSpPr>
        <p:spPr>
          <a:xfrm>
            <a:off x="548640" y="2971800"/>
            <a:ext cx="5272888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15468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Ingreso faltante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3872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11.8% de los hogares tiene ingreso incompleto. Con ingreso observado el objetivo sería de 8.39 M; con imputación PMM, de 8.22 M.</a:t>
            </a:r>
            <a:endParaRPr lang="en-US" sz="1200" dirty="0"/>
          </a:p>
        </p:txBody>
      </p:sp>
      <p:sp>
        <p:nvSpPr>
          <p:cNvPr id="12" name="rule54"/>
          <p:cNvSpPr/>
          <p:nvPr/>
        </p:nvSpPr>
        <p:spPr>
          <a:xfrm>
            <a:off x="548640" y="4526280"/>
            <a:ext cx="5272888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70916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Riesgo y desastres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09320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 se observa la zona de riesgo ni la afectación por desastres: reubicación y reconstrucción requieren fuentes externas.</a:t>
            </a:r>
            <a:endParaRPr lang="en-US" sz="1200" dirty="0"/>
          </a:p>
        </p:txBody>
      </p:sp>
      <p:sp>
        <p:nvSpPr>
          <p:cNvPr id="16" name="rule55"/>
          <p:cNvSpPr/>
          <p:nvPr/>
        </p:nvSpPr>
        <p:spPr>
          <a:xfrm>
            <a:off x="6370168" y="1417320"/>
            <a:ext cx="5272888" cy="0"/>
          </a:xfrm>
          <a:prstGeom prst="line">
            <a:avLst/>
          </a:prstGeom>
          <a:noFill/>
          <a:ln w="12700">
            <a:solidFill>
              <a:srgbClr val="A9B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1600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18808" y="160020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Desagregación territorial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18808" y="198424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Es representativa por entidad y tamaño de localidad; no identifica municipios, polígonos ni zonas de intervención.</a:t>
            </a:r>
            <a:endParaRPr lang="en-US" sz="1200" dirty="0"/>
          </a:p>
        </p:txBody>
      </p:sp>
      <p:sp>
        <p:nvSpPr>
          <p:cNvPr id="20" name="rule56"/>
          <p:cNvSpPr/>
          <p:nvPr/>
        </p:nvSpPr>
        <p:spPr>
          <a:xfrm>
            <a:off x="6370168" y="2971800"/>
            <a:ext cx="5272888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0168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18808" y="315468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Requisitos aproximados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18808" y="353872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Posesión sin escritura, apoyo previo, ahorro e interés social se aproximan; nexo familiar, cimentación y antigüedad laboral no se observan.</a:t>
            </a:r>
            <a:endParaRPr lang="en-US" sz="1200" dirty="0"/>
          </a:p>
        </p:txBody>
      </p:sp>
      <p:sp>
        <p:nvSpPr>
          <p:cNvPr id="24" name="rule57"/>
          <p:cNvSpPr/>
          <p:nvPr/>
        </p:nvSpPr>
        <p:spPr>
          <a:xfrm>
            <a:off x="6370168" y="4526280"/>
            <a:ext cx="5272888" cy="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0168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18808" y="4709160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Precisión y vigencia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18808" y="5093208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C2 y C7 descansan en muestras pequeñas (478 y 175 hogares). Los datos son de 2020 y las reglas de INFONAVIT provienen de fuente secundaria.</a:t>
            </a:r>
            <a:endParaRPr lang="en-US" sz="1200" dirty="0"/>
          </a:p>
        </p:txBody>
      </p:sp>
      <p:sp>
        <p:nvSpPr>
          <p:cNvPr id="28" name="vrule58"/>
          <p:cNvSpPr/>
          <p:nvPr/>
        </p:nvSpPr>
        <p:spPr>
          <a:xfrm>
            <a:off x="6095848" y="1417320"/>
            <a:ext cx="0" cy="4572000"/>
          </a:xfrm>
          <a:prstGeom prst="line">
            <a:avLst/>
          </a:prstGeom>
          <a:noFill/>
          <a:ln w="9525">
            <a:solidFill>
              <a:srgbClr val="D5DDE4"/>
            </a:solidFill>
            <a:prstDash val="solid"/>
          </a:ln>
        </p:spPr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ienda Bienestar Tecnico">
  <a:themeElements>
    <a:clrScheme name="Vivienda Bienestar Tecnico">
      <a:dk1>
        <a:srgbClr val="1F2A33"/>
      </a:dk1>
      <a:lt1>
        <a:srgbClr val="FFFFFF"/>
      </a:lt1>
      <a:dk2>
        <a:srgbClr val="2E4558"/>
      </a:dk2>
      <a:lt2>
        <a:srgbClr val="EEF2F5"/>
      </a:lt2>
      <a:accent1>
        <a:srgbClr val="4A6478"/>
      </a:accent1>
      <a:accent2>
        <a:srgbClr val="B85A3C"/>
      </a:accent2>
      <a:accent3>
        <a:srgbClr val="A9BACA"/>
      </a:accent3>
      <a:accent4>
        <a:srgbClr val="B9821F"/>
      </a:accent4>
      <a:accent5>
        <a:srgbClr val="66727E"/>
      </a:accent5>
      <a:accent6>
        <a:srgbClr val="D5DDE4"/>
      </a:accent6>
      <a:hlink>
        <a:srgbClr val="2E4558"/>
      </a:hlink>
      <a:folHlink>
        <a:srgbClr val="66727E"/>
      </a:folHlink>
    </a:clrScheme>
    <a:fontScheme name="Vivienda Bienestar Tecnico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Vivienda Bienestar Tecnico</vt:lpstr>
      <vt:lpstr>Identificación y dimensionamiento de la población susceptible de ser atendida por el Programa de Vivienda para el Bienestar</vt:lpstr>
      <vt:lpstr>Panorama de la necesidad de vivienda en México, 2020</vt:lpstr>
      <vt:lpstr>PowerPoint Presentation</vt:lpstr>
      <vt:lpstr>PowerPoint Presentation</vt:lpstr>
      <vt:lpstr>PowerPoint Presentation</vt:lpstr>
      <vt:lpstr>PowerPoint Presentation</vt:lpstr>
      <vt:lpstr>Dimensiones de evaluación del tipo de atención por hogar</vt:lpstr>
      <vt:lpstr>Uno de cada cuatro hogares es población potencial del programa</vt:lpstr>
      <vt:lpstr>La necesidad varía de forma marcada entre entidades</vt:lpstr>
      <vt:lpstr>Identificar por tipo de carencia, dimensionar por territorio</vt:lpstr>
      <vt:lpstr>Límites de la información y del ejercicio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Identificación y dimensionamiento de la población susceptible de ser atendida por el Programa de Vivienda para el Bienestar · ENVI 2020</dc:title>
  <dc:subject>PptxGenJS Presentation</dc:subject>
  <dc:creator>Pablo Cesar Uriarte</dc:creator>
  <cp:lastModifiedBy>Pablo Cesar Uriarte</cp:lastModifiedBy>
  <cp:revision>75</cp:revision>
  <dcterms:created xsi:type="dcterms:W3CDTF">2026-10-19T06:18:45Z</dcterms:created>
  <dcterms:modified xsi:type="dcterms:W3CDTF">2026-10-19T06:57:55Z</dcterms:modified>
</cp:coreProperties>
</file>